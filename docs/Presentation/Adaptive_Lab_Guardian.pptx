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tkinson Hyperlegible" charset="1" panose="00000000000000000000"/>
      <p:regular r:id="rId21"/>
    </p:embeddedFont>
    <p:embeddedFont>
      <p:font typeface="Michroma" charset="1" panose="00000000000000000000"/>
      <p:regular r:id="rId22"/>
    </p:embeddedFont>
    <p:embeddedFont>
      <p:font typeface="Arial MT Pro" charset="1" panose="020B0502020202020204"/>
      <p:regular r:id="rId23"/>
    </p:embeddedFont>
    <p:embeddedFont>
      <p:font typeface="Atkinson Hyperlegible Bold" charset="1" panose="00000000000000000000"/>
      <p:regular r:id="rId24"/>
    </p:embeddedFont>
    <p:embeddedFont>
      <p:font typeface="TT Hoves" charset="1" panose="02000003020000060003"/>
      <p:regular r:id="rId25"/>
    </p:embeddedFont>
    <p:embeddedFont>
      <p:font typeface="TT Hoves Bold" charset="1" panose="02000003020000060003"/>
      <p:regular r:id="rId26"/>
    </p:embeddedFont>
    <p:embeddedFont>
      <p:font typeface="DM Sans" charset="1" panose="00000000000000000000"/>
      <p:regular r:id="rId27"/>
    </p:embeddedFont>
    <p:embeddedFont>
      <p:font typeface="DM Sans Bold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0.png" Type="http://schemas.openxmlformats.org/officeDocument/2006/relationships/image"/><Relationship Id="rId14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17" Target="../media/image37.png" Type="http://schemas.openxmlformats.org/officeDocument/2006/relationships/image"/><Relationship Id="rId18" Target="../media/image38.png" Type="http://schemas.openxmlformats.org/officeDocument/2006/relationships/image"/><Relationship Id="rId19" Target="../media/image1.png" Type="http://schemas.openxmlformats.org/officeDocument/2006/relationships/image"/><Relationship Id="rId2" Target="../media/image22.png" Type="http://schemas.openxmlformats.org/officeDocument/2006/relationships/image"/><Relationship Id="rId20" Target="../media/image2.svg" Type="http://schemas.openxmlformats.org/officeDocument/2006/relationships/image"/><Relationship Id="rId21" Target="../media/image3.png" Type="http://schemas.openxmlformats.org/officeDocument/2006/relationships/image"/><Relationship Id="rId22" Target="../media/image4.sv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14" Target="../media/image48.png" Type="http://schemas.openxmlformats.org/officeDocument/2006/relationships/image"/><Relationship Id="rId15" Target="../media/image49.svg" Type="http://schemas.openxmlformats.org/officeDocument/2006/relationships/image"/><Relationship Id="rId16" Target="../media/image50.png" Type="http://schemas.openxmlformats.org/officeDocument/2006/relationships/image"/><Relationship Id="rId17" Target="../media/image51.svg" Type="http://schemas.openxmlformats.org/officeDocument/2006/relationships/image"/><Relationship Id="rId18" Target="../media/image52.png" Type="http://schemas.openxmlformats.org/officeDocument/2006/relationships/image"/><Relationship Id="rId19" Target="../media/image5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12" Target="../media/image67.png" Type="http://schemas.openxmlformats.org/officeDocument/2006/relationships/image"/><Relationship Id="rId13" Target="../media/image68.svg" Type="http://schemas.openxmlformats.org/officeDocument/2006/relationships/image"/><Relationship Id="rId14" Target="../media/image69.png" Type="http://schemas.openxmlformats.org/officeDocument/2006/relationships/image"/><Relationship Id="rId15" Target="../media/image7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Relationship Id="rId8" Target="../media/image73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adelbadran/Adaptive_Lab_Guardian.git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7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16651" y="8125223"/>
            <a:ext cx="1544264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WHEN</a:t>
            </a: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7 AI MODELS TEAM UP TO PROTECT A LAB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7189170" y="4659423"/>
            <a:ext cx="3909659" cy="2932244"/>
          </a:xfrm>
          <a:custGeom>
            <a:avLst/>
            <a:gdLst/>
            <a:ahLst/>
            <a:cxnLst/>
            <a:rect r="r" b="b" t="t" l="l"/>
            <a:pathLst>
              <a:path h="2932244" w="3909659">
                <a:moveTo>
                  <a:pt x="3909660" y="0"/>
                </a:moveTo>
                <a:lnTo>
                  <a:pt x="0" y="0"/>
                </a:lnTo>
                <a:lnTo>
                  <a:pt x="0" y="2932245"/>
                </a:lnTo>
                <a:lnTo>
                  <a:pt x="3909660" y="2932245"/>
                </a:lnTo>
                <a:lnTo>
                  <a:pt x="390966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59243" y="1711323"/>
            <a:ext cx="216951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ALG1</a:t>
            </a:r>
            <a:r>
              <a:rPr lang="en-US" sz="2499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- 3.IS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38099" y="3054346"/>
            <a:ext cx="14411802" cy="103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5"/>
              </a:lnSpc>
              <a:spcBef>
                <a:spcPct val="0"/>
              </a:spcBef>
            </a:pPr>
            <a:r>
              <a:rPr lang="en-US" sz="6004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Adaptive Lab Guardian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325063" y="4651282"/>
            <a:ext cx="2875765" cy="2425164"/>
          </a:xfrm>
          <a:custGeom>
            <a:avLst/>
            <a:gdLst/>
            <a:ahLst/>
            <a:cxnLst/>
            <a:rect r="r" b="b" t="t" l="l"/>
            <a:pathLst>
              <a:path h="2425164" w="2875765">
                <a:moveTo>
                  <a:pt x="0" y="0"/>
                </a:moveTo>
                <a:lnTo>
                  <a:pt x="2875766" y="0"/>
                </a:lnTo>
                <a:lnTo>
                  <a:pt x="2875766" y="2425163"/>
                </a:lnTo>
                <a:lnTo>
                  <a:pt x="0" y="2425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32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62954" y="4390396"/>
            <a:ext cx="2398642" cy="2686049"/>
          </a:xfrm>
          <a:custGeom>
            <a:avLst/>
            <a:gdLst/>
            <a:ahLst/>
            <a:cxnLst/>
            <a:rect r="r" b="b" t="t" l="l"/>
            <a:pathLst>
              <a:path h="2686049" w="2398642">
                <a:moveTo>
                  <a:pt x="0" y="0"/>
                </a:moveTo>
                <a:lnTo>
                  <a:pt x="2398642" y="0"/>
                </a:lnTo>
                <a:lnTo>
                  <a:pt x="2398642" y="2686049"/>
                </a:lnTo>
                <a:lnTo>
                  <a:pt x="0" y="26860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57940" y="4606811"/>
            <a:ext cx="2004999" cy="2514105"/>
          </a:xfrm>
          <a:custGeom>
            <a:avLst/>
            <a:gdLst/>
            <a:ahLst/>
            <a:cxnLst/>
            <a:rect r="r" b="b" t="t" l="l"/>
            <a:pathLst>
              <a:path h="2514105" w="2004999">
                <a:moveTo>
                  <a:pt x="0" y="0"/>
                </a:moveTo>
                <a:lnTo>
                  <a:pt x="2004998" y="0"/>
                </a:lnTo>
                <a:lnTo>
                  <a:pt x="2004998" y="2514105"/>
                </a:lnTo>
                <a:lnTo>
                  <a:pt x="0" y="2514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21540" y="4651282"/>
            <a:ext cx="2188710" cy="2425164"/>
          </a:xfrm>
          <a:custGeom>
            <a:avLst/>
            <a:gdLst/>
            <a:ahLst/>
            <a:cxnLst/>
            <a:rect r="r" b="b" t="t" l="l"/>
            <a:pathLst>
              <a:path h="2425164" w="2188710">
                <a:moveTo>
                  <a:pt x="0" y="0"/>
                </a:moveTo>
                <a:lnTo>
                  <a:pt x="2188711" y="0"/>
                </a:lnTo>
                <a:lnTo>
                  <a:pt x="2188711" y="2425163"/>
                </a:lnTo>
                <a:lnTo>
                  <a:pt x="0" y="24251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695573"/>
            <a:ext cx="1524317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What happens when no one is watching 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12489" y="1200150"/>
            <a:ext cx="706197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044841"/>
            <a:ext cx="306347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Chemical gas</a:t>
            </a:r>
            <a:r>
              <a:rPr lang="en-US" sz="25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leakage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44708" y="8044841"/>
            <a:ext cx="323647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Equipment overh</a:t>
            </a:r>
            <a:r>
              <a:rPr lang="en-US" sz="25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eating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5605" y="8044841"/>
            <a:ext cx="291334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Unauthoriz</a:t>
            </a:r>
            <a:r>
              <a:rPr lang="en-US" sz="25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ed access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7663" y="8044841"/>
            <a:ext cx="409646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Delay</a:t>
            </a:r>
            <a:r>
              <a:rPr lang="en-US" sz="25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ed emergency response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8963" y="8845550"/>
            <a:ext cx="1544264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TRADITIONAL</a:t>
            </a: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SYSTEMS WAIT FOR HUMANS TO REACT. ALG-1 DOESN'T WAIT.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915479"/>
            <a:ext cx="16230600" cy="534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6"/>
              </a:lnSpc>
            </a:pPr>
            <a:r>
              <a:rPr lang="en-US" sz="235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 a</a:t>
            </a:r>
            <a:r>
              <a:rPr lang="en-US" sz="235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quiet night inside a university laboratory, everything seemed stable and normal machines running softly and environmental readings within safe ranges.</a:t>
            </a:r>
          </a:p>
          <a:p>
            <a:pPr algn="just">
              <a:lnSpc>
                <a:spcPts val="3296"/>
              </a:lnSpc>
            </a:pPr>
            <a:r>
              <a:rPr lang="en-US" sz="235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But then, subtle irregularities began to appear.</a:t>
            </a:r>
          </a:p>
          <a:p>
            <a:pPr algn="just">
              <a:lnSpc>
                <a:spcPts val="3296"/>
              </a:lnSpc>
            </a:pPr>
            <a:r>
              <a:rPr lang="en-US" sz="235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 slight increase in temperature, minor fluctuations in air quality, and unexpected motion detected at an unusual time. Individually, they seemed insignificant—but together, they indicated the beginning of a potential problem.</a:t>
            </a:r>
          </a:p>
          <a:p>
            <a:pPr algn="just">
              <a:lnSpc>
                <a:spcPts val="3296"/>
              </a:lnSpc>
            </a:pPr>
            <a:r>
              <a:rPr lang="en-US" sz="235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Instead of waiting for a human response, the system immediately started analyzing the situation as a whole, combining all signals to understand what was really happening.</a:t>
            </a:r>
          </a:p>
          <a:p>
            <a:pPr algn="just">
              <a:lnSpc>
                <a:spcPts val="3296"/>
              </a:lnSpc>
            </a:pPr>
            <a:r>
              <a:rPr lang="en-US" sz="235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 decision was made within seconds whether to trigger a safety response, activate a control mechanism, or ignore the event if it was within acceptable limits.</a:t>
            </a:r>
          </a:p>
          <a:p>
            <a:pPr algn="just">
              <a:lnSpc>
                <a:spcPts val="3296"/>
              </a:lnSpc>
            </a:pPr>
            <a:r>
              <a:rPr lang="en-US" sz="235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The situation was handled in real time, and every outcome became feedback for the system to improve its future responses.</a:t>
            </a:r>
          </a:p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sz="235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What began as small, almost unnoticed changes marked the first moment the environment required intelligent awareness to prevent escalation.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83286" y="0"/>
            <a:ext cx="2721428" cy="2286000"/>
          </a:xfrm>
          <a:custGeom>
            <a:avLst/>
            <a:gdLst/>
            <a:ahLst/>
            <a:cxnLst/>
            <a:rect r="r" b="b" t="t" l="l"/>
            <a:pathLst>
              <a:path h="2286000" w="2721428">
                <a:moveTo>
                  <a:pt x="0" y="0"/>
                </a:moveTo>
                <a:lnTo>
                  <a:pt x="2721428" y="0"/>
                </a:lnTo>
                <a:lnTo>
                  <a:pt x="2721428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695573"/>
            <a:ext cx="15243175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T</a:t>
            </a: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he Idea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71875" y="1200150"/>
            <a:ext cx="98742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8959" y="3878161"/>
            <a:ext cx="6172768" cy="2962453"/>
            <a:chOff x="0" y="0"/>
            <a:chExt cx="1625750" cy="780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750" cy="780235"/>
            </a:xfrm>
            <a:custGeom>
              <a:avLst/>
              <a:gdLst/>
              <a:ahLst/>
              <a:cxnLst/>
              <a:rect r="r" b="b" t="t" l="l"/>
              <a:pathLst>
                <a:path h="780235" w="1625750">
                  <a:moveTo>
                    <a:pt x="63964" y="0"/>
                  </a:moveTo>
                  <a:lnTo>
                    <a:pt x="1561785" y="0"/>
                  </a:lnTo>
                  <a:cubicBezTo>
                    <a:pt x="1578750" y="0"/>
                    <a:pt x="1595019" y="6739"/>
                    <a:pt x="1607015" y="18735"/>
                  </a:cubicBezTo>
                  <a:cubicBezTo>
                    <a:pt x="1619010" y="30730"/>
                    <a:pt x="1625750" y="47000"/>
                    <a:pt x="1625750" y="63964"/>
                  </a:cubicBezTo>
                  <a:lnTo>
                    <a:pt x="1625750" y="716270"/>
                  </a:lnTo>
                  <a:cubicBezTo>
                    <a:pt x="1625750" y="733235"/>
                    <a:pt x="1619010" y="749504"/>
                    <a:pt x="1607015" y="761500"/>
                  </a:cubicBezTo>
                  <a:cubicBezTo>
                    <a:pt x="1595019" y="773495"/>
                    <a:pt x="1578750" y="780235"/>
                    <a:pt x="1561785" y="780235"/>
                  </a:cubicBezTo>
                  <a:lnTo>
                    <a:pt x="63964" y="780235"/>
                  </a:lnTo>
                  <a:cubicBezTo>
                    <a:pt x="47000" y="780235"/>
                    <a:pt x="30730" y="773495"/>
                    <a:pt x="18735" y="761500"/>
                  </a:cubicBezTo>
                  <a:cubicBezTo>
                    <a:pt x="6739" y="749504"/>
                    <a:pt x="0" y="733235"/>
                    <a:pt x="0" y="716270"/>
                  </a:cubicBezTo>
                  <a:lnTo>
                    <a:pt x="0" y="63964"/>
                  </a:lnTo>
                  <a:cubicBezTo>
                    <a:pt x="0" y="47000"/>
                    <a:pt x="6739" y="30730"/>
                    <a:pt x="18735" y="18735"/>
                  </a:cubicBezTo>
                  <a:cubicBezTo>
                    <a:pt x="30730" y="6739"/>
                    <a:pt x="47000" y="0"/>
                    <a:pt x="63964" y="0"/>
                  </a:cubicBezTo>
                  <a:close/>
                </a:path>
              </a:pathLst>
            </a:custGeom>
            <a:solidFill>
              <a:srgbClr val="4A629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625750" cy="761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48959" y="7126364"/>
            <a:ext cx="6172768" cy="705218"/>
            <a:chOff x="0" y="0"/>
            <a:chExt cx="1610254" cy="183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10254" cy="183966"/>
            </a:xfrm>
            <a:custGeom>
              <a:avLst/>
              <a:gdLst/>
              <a:ahLst/>
              <a:cxnLst/>
              <a:rect r="r" b="b" t="t" l="l"/>
              <a:pathLst>
                <a:path h="183966" w="1610254">
                  <a:moveTo>
                    <a:pt x="26338" y="0"/>
                  </a:moveTo>
                  <a:lnTo>
                    <a:pt x="1583916" y="0"/>
                  </a:lnTo>
                  <a:cubicBezTo>
                    <a:pt x="1598462" y="0"/>
                    <a:pt x="1610254" y="11792"/>
                    <a:pt x="1610254" y="26338"/>
                  </a:cubicBezTo>
                  <a:lnTo>
                    <a:pt x="1610254" y="157628"/>
                  </a:lnTo>
                  <a:cubicBezTo>
                    <a:pt x="1610254" y="164613"/>
                    <a:pt x="1607479" y="171312"/>
                    <a:pt x="1602540" y="176252"/>
                  </a:cubicBezTo>
                  <a:cubicBezTo>
                    <a:pt x="1597600" y="181191"/>
                    <a:pt x="1590901" y="183966"/>
                    <a:pt x="1583916" y="183966"/>
                  </a:cubicBezTo>
                  <a:lnTo>
                    <a:pt x="26338" y="183966"/>
                  </a:lnTo>
                  <a:cubicBezTo>
                    <a:pt x="19353" y="183966"/>
                    <a:pt x="12654" y="181191"/>
                    <a:pt x="7714" y="176252"/>
                  </a:cubicBezTo>
                  <a:cubicBezTo>
                    <a:pt x="2775" y="171312"/>
                    <a:pt x="0" y="164613"/>
                    <a:pt x="0" y="157628"/>
                  </a:cubicBezTo>
                  <a:lnTo>
                    <a:pt x="0" y="26338"/>
                  </a:lnTo>
                  <a:cubicBezTo>
                    <a:pt x="0" y="19353"/>
                    <a:pt x="2775" y="12654"/>
                    <a:pt x="7714" y="7714"/>
                  </a:cubicBezTo>
                  <a:cubicBezTo>
                    <a:pt x="12654" y="2775"/>
                    <a:pt x="19353" y="0"/>
                    <a:pt x="26338" y="0"/>
                  </a:cubicBezTo>
                  <a:close/>
                </a:path>
              </a:pathLst>
            </a:custGeom>
            <a:ln w="9525" cap="rnd">
              <a:solidFill>
                <a:srgbClr val="010314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610254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48959" y="8116216"/>
            <a:ext cx="6172768" cy="705218"/>
            <a:chOff x="0" y="0"/>
            <a:chExt cx="1610254" cy="1839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10254" cy="183966"/>
            </a:xfrm>
            <a:custGeom>
              <a:avLst/>
              <a:gdLst/>
              <a:ahLst/>
              <a:cxnLst/>
              <a:rect r="r" b="b" t="t" l="l"/>
              <a:pathLst>
                <a:path h="183966" w="1610254">
                  <a:moveTo>
                    <a:pt x="26338" y="0"/>
                  </a:moveTo>
                  <a:lnTo>
                    <a:pt x="1583916" y="0"/>
                  </a:lnTo>
                  <a:cubicBezTo>
                    <a:pt x="1598462" y="0"/>
                    <a:pt x="1610254" y="11792"/>
                    <a:pt x="1610254" y="26338"/>
                  </a:cubicBezTo>
                  <a:lnTo>
                    <a:pt x="1610254" y="157628"/>
                  </a:lnTo>
                  <a:cubicBezTo>
                    <a:pt x="1610254" y="164613"/>
                    <a:pt x="1607479" y="171312"/>
                    <a:pt x="1602540" y="176252"/>
                  </a:cubicBezTo>
                  <a:cubicBezTo>
                    <a:pt x="1597600" y="181191"/>
                    <a:pt x="1590901" y="183966"/>
                    <a:pt x="1583916" y="183966"/>
                  </a:cubicBezTo>
                  <a:lnTo>
                    <a:pt x="26338" y="183966"/>
                  </a:lnTo>
                  <a:cubicBezTo>
                    <a:pt x="19353" y="183966"/>
                    <a:pt x="12654" y="181191"/>
                    <a:pt x="7714" y="176252"/>
                  </a:cubicBezTo>
                  <a:cubicBezTo>
                    <a:pt x="2775" y="171312"/>
                    <a:pt x="0" y="164613"/>
                    <a:pt x="0" y="157628"/>
                  </a:cubicBezTo>
                  <a:lnTo>
                    <a:pt x="0" y="26338"/>
                  </a:lnTo>
                  <a:cubicBezTo>
                    <a:pt x="0" y="19353"/>
                    <a:pt x="2775" y="12654"/>
                    <a:pt x="7714" y="7714"/>
                  </a:cubicBezTo>
                  <a:cubicBezTo>
                    <a:pt x="12654" y="2775"/>
                    <a:pt x="19353" y="0"/>
                    <a:pt x="26338" y="0"/>
                  </a:cubicBezTo>
                  <a:close/>
                </a:path>
              </a:pathLst>
            </a:custGeom>
            <a:ln w="9525" cap="rnd">
              <a:solidFill>
                <a:srgbClr val="010314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610254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66274" y="7126364"/>
            <a:ext cx="6172768" cy="705218"/>
            <a:chOff x="0" y="0"/>
            <a:chExt cx="1610254" cy="1839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10254" cy="183966"/>
            </a:xfrm>
            <a:custGeom>
              <a:avLst/>
              <a:gdLst/>
              <a:ahLst/>
              <a:cxnLst/>
              <a:rect r="r" b="b" t="t" l="l"/>
              <a:pathLst>
                <a:path h="183966" w="1610254">
                  <a:moveTo>
                    <a:pt x="26338" y="0"/>
                  </a:moveTo>
                  <a:lnTo>
                    <a:pt x="1583916" y="0"/>
                  </a:lnTo>
                  <a:cubicBezTo>
                    <a:pt x="1598462" y="0"/>
                    <a:pt x="1610254" y="11792"/>
                    <a:pt x="1610254" y="26338"/>
                  </a:cubicBezTo>
                  <a:lnTo>
                    <a:pt x="1610254" y="157628"/>
                  </a:lnTo>
                  <a:cubicBezTo>
                    <a:pt x="1610254" y="164613"/>
                    <a:pt x="1607479" y="171312"/>
                    <a:pt x="1602540" y="176252"/>
                  </a:cubicBezTo>
                  <a:cubicBezTo>
                    <a:pt x="1597600" y="181191"/>
                    <a:pt x="1590901" y="183966"/>
                    <a:pt x="1583916" y="183966"/>
                  </a:cubicBezTo>
                  <a:lnTo>
                    <a:pt x="26338" y="183966"/>
                  </a:lnTo>
                  <a:cubicBezTo>
                    <a:pt x="19353" y="183966"/>
                    <a:pt x="12654" y="181191"/>
                    <a:pt x="7714" y="176252"/>
                  </a:cubicBezTo>
                  <a:cubicBezTo>
                    <a:pt x="2775" y="171312"/>
                    <a:pt x="0" y="164613"/>
                    <a:pt x="0" y="157628"/>
                  </a:cubicBezTo>
                  <a:lnTo>
                    <a:pt x="0" y="26338"/>
                  </a:lnTo>
                  <a:cubicBezTo>
                    <a:pt x="0" y="19353"/>
                    <a:pt x="2775" y="12654"/>
                    <a:pt x="7714" y="7714"/>
                  </a:cubicBezTo>
                  <a:cubicBezTo>
                    <a:pt x="12654" y="2775"/>
                    <a:pt x="19353" y="0"/>
                    <a:pt x="26338" y="0"/>
                  </a:cubicBezTo>
                  <a:close/>
                </a:path>
              </a:pathLst>
            </a:custGeom>
            <a:ln w="9525" cap="rnd">
              <a:solidFill>
                <a:srgbClr val="010314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610254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66274" y="8116216"/>
            <a:ext cx="6172768" cy="705218"/>
            <a:chOff x="0" y="0"/>
            <a:chExt cx="1610254" cy="1839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10254" cy="183966"/>
            </a:xfrm>
            <a:custGeom>
              <a:avLst/>
              <a:gdLst/>
              <a:ahLst/>
              <a:cxnLst/>
              <a:rect r="r" b="b" t="t" l="l"/>
              <a:pathLst>
                <a:path h="183966" w="1610254">
                  <a:moveTo>
                    <a:pt x="26338" y="0"/>
                  </a:moveTo>
                  <a:lnTo>
                    <a:pt x="1583916" y="0"/>
                  </a:lnTo>
                  <a:cubicBezTo>
                    <a:pt x="1598462" y="0"/>
                    <a:pt x="1610254" y="11792"/>
                    <a:pt x="1610254" y="26338"/>
                  </a:cubicBezTo>
                  <a:lnTo>
                    <a:pt x="1610254" y="157628"/>
                  </a:lnTo>
                  <a:cubicBezTo>
                    <a:pt x="1610254" y="164613"/>
                    <a:pt x="1607479" y="171312"/>
                    <a:pt x="1602540" y="176252"/>
                  </a:cubicBezTo>
                  <a:cubicBezTo>
                    <a:pt x="1597600" y="181191"/>
                    <a:pt x="1590901" y="183966"/>
                    <a:pt x="1583916" y="183966"/>
                  </a:cubicBezTo>
                  <a:lnTo>
                    <a:pt x="26338" y="183966"/>
                  </a:lnTo>
                  <a:cubicBezTo>
                    <a:pt x="19353" y="183966"/>
                    <a:pt x="12654" y="181191"/>
                    <a:pt x="7714" y="176252"/>
                  </a:cubicBezTo>
                  <a:cubicBezTo>
                    <a:pt x="2775" y="171312"/>
                    <a:pt x="0" y="164613"/>
                    <a:pt x="0" y="157628"/>
                  </a:cubicBezTo>
                  <a:lnTo>
                    <a:pt x="0" y="26338"/>
                  </a:lnTo>
                  <a:cubicBezTo>
                    <a:pt x="0" y="19353"/>
                    <a:pt x="2775" y="12654"/>
                    <a:pt x="7714" y="7714"/>
                  </a:cubicBezTo>
                  <a:cubicBezTo>
                    <a:pt x="12654" y="2775"/>
                    <a:pt x="19353" y="0"/>
                    <a:pt x="26338" y="0"/>
                  </a:cubicBezTo>
                  <a:close/>
                </a:path>
              </a:pathLst>
            </a:custGeom>
            <a:ln w="9525" cap="rnd">
              <a:solidFill>
                <a:srgbClr val="01031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1610254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66274" y="3900990"/>
            <a:ext cx="6172768" cy="2916794"/>
            <a:chOff x="0" y="0"/>
            <a:chExt cx="956323" cy="4518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6323" cy="451888"/>
            </a:xfrm>
            <a:custGeom>
              <a:avLst/>
              <a:gdLst/>
              <a:ahLst/>
              <a:cxnLst/>
              <a:rect r="r" b="b" t="t" l="l"/>
              <a:pathLst>
                <a:path h="451888" w="956323">
                  <a:moveTo>
                    <a:pt x="63964" y="0"/>
                  </a:moveTo>
                  <a:lnTo>
                    <a:pt x="892359" y="0"/>
                  </a:lnTo>
                  <a:cubicBezTo>
                    <a:pt x="909323" y="0"/>
                    <a:pt x="925593" y="6739"/>
                    <a:pt x="937588" y="18735"/>
                  </a:cubicBezTo>
                  <a:cubicBezTo>
                    <a:pt x="949584" y="30730"/>
                    <a:pt x="956323" y="47000"/>
                    <a:pt x="956323" y="63964"/>
                  </a:cubicBezTo>
                  <a:lnTo>
                    <a:pt x="956323" y="387923"/>
                  </a:lnTo>
                  <a:cubicBezTo>
                    <a:pt x="956323" y="404888"/>
                    <a:pt x="949584" y="421157"/>
                    <a:pt x="937588" y="433153"/>
                  </a:cubicBezTo>
                  <a:cubicBezTo>
                    <a:pt x="925593" y="445149"/>
                    <a:pt x="909323" y="451888"/>
                    <a:pt x="892359" y="451888"/>
                  </a:cubicBezTo>
                  <a:lnTo>
                    <a:pt x="63964" y="451888"/>
                  </a:lnTo>
                  <a:cubicBezTo>
                    <a:pt x="47000" y="451888"/>
                    <a:pt x="30730" y="445149"/>
                    <a:pt x="18735" y="433153"/>
                  </a:cubicBezTo>
                  <a:cubicBezTo>
                    <a:pt x="6739" y="421157"/>
                    <a:pt x="0" y="404888"/>
                    <a:pt x="0" y="387923"/>
                  </a:cubicBezTo>
                  <a:lnTo>
                    <a:pt x="0" y="63964"/>
                  </a:lnTo>
                  <a:cubicBezTo>
                    <a:pt x="0" y="47000"/>
                    <a:pt x="6739" y="30730"/>
                    <a:pt x="18735" y="18735"/>
                  </a:cubicBezTo>
                  <a:cubicBezTo>
                    <a:pt x="30730" y="6739"/>
                    <a:pt x="47000" y="0"/>
                    <a:pt x="63964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4069" r="0" b="-24069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8342595" y="7282906"/>
            <a:ext cx="429067" cy="429067"/>
          </a:xfrm>
          <a:custGeom>
            <a:avLst/>
            <a:gdLst/>
            <a:ahLst/>
            <a:cxnLst/>
            <a:rect r="r" b="b" t="t" l="l"/>
            <a:pathLst>
              <a:path h="429067" w="429067">
                <a:moveTo>
                  <a:pt x="0" y="0"/>
                </a:moveTo>
                <a:lnTo>
                  <a:pt x="429067" y="0"/>
                </a:lnTo>
                <a:lnTo>
                  <a:pt x="429067" y="429067"/>
                </a:lnTo>
                <a:lnTo>
                  <a:pt x="0" y="4290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795987" y="7307166"/>
            <a:ext cx="609638" cy="343614"/>
          </a:xfrm>
          <a:custGeom>
            <a:avLst/>
            <a:gdLst/>
            <a:ahLst/>
            <a:cxnLst/>
            <a:rect r="r" b="b" t="t" l="l"/>
            <a:pathLst>
              <a:path h="343614" w="609638">
                <a:moveTo>
                  <a:pt x="0" y="0"/>
                </a:moveTo>
                <a:lnTo>
                  <a:pt x="609639" y="0"/>
                </a:lnTo>
                <a:lnTo>
                  <a:pt x="609639" y="343614"/>
                </a:lnTo>
                <a:lnTo>
                  <a:pt x="0" y="3436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342595" y="8224533"/>
            <a:ext cx="429067" cy="488585"/>
          </a:xfrm>
          <a:custGeom>
            <a:avLst/>
            <a:gdLst/>
            <a:ahLst/>
            <a:cxnLst/>
            <a:rect r="r" b="b" t="t" l="l"/>
            <a:pathLst>
              <a:path h="488585" w="429067">
                <a:moveTo>
                  <a:pt x="0" y="0"/>
                </a:moveTo>
                <a:lnTo>
                  <a:pt x="429067" y="0"/>
                </a:lnTo>
                <a:lnTo>
                  <a:pt x="429067" y="488585"/>
                </a:lnTo>
                <a:lnTo>
                  <a:pt x="0" y="4885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039286" y="8251875"/>
            <a:ext cx="366340" cy="433900"/>
          </a:xfrm>
          <a:custGeom>
            <a:avLst/>
            <a:gdLst/>
            <a:ahLst/>
            <a:cxnLst/>
            <a:rect r="r" b="b" t="t" l="l"/>
            <a:pathLst>
              <a:path h="433900" w="366340">
                <a:moveTo>
                  <a:pt x="0" y="0"/>
                </a:moveTo>
                <a:lnTo>
                  <a:pt x="366340" y="0"/>
                </a:lnTo>
                <a:lnTo>
                  <a:pt x="366340" y="433901"/>
                </a:lnTo>
                <a:lnTo>
                  <a:pt x="0" y="4339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306113" y="7379134"/>
            <a:ext cx="3508235" cy="25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837">
                <a:solidFill>
                  <a:srgbClr val="13101D"/>
                </a:solidFill>
                <a:latin typeface="Arial MT Pro"/>
                <a:ea typeface="Arial MT Pro"/>
                <a:cs typeface="Arial MT Pro"/>
                <a:sym typeface="Arial MT Pro"/>
              </a:rPr>
              <a:t>Normal / Stable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306113" y="8368987"/>
            <a:ext cx="3508235" cy="25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837">
                <a:solidFill>
                  <a:srgbClr val="13101D"/>
                </a:solidFill>
                <a:latin typeface="Arial MT Pro"/>
                <a:ea typeface="Arial MT Pro"/>
                <a:cs typeface="Arial MT Pro"/>
                <a:sym typeface="Arial MT Pro"/>
              </a:rPr>
              <a:t>Chem</a:t>
            </a:r>
            <a:r>
              <a:rPr lang="en-US" sz="1837">
                <a:solidFill>
                  <a:srgbClr val="13101D"/>
                </a:solidFill>
                <a:latin typeface="Arial MT Pro"/>
                <a:ea typeface="Arial MT Pro"/>
                <a:cs typeface="Arial MT Pro"/>
                <a:sym typeface="Arial MT Pro"/>
              </a:rPr>
              <a:t>ical Hazard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23428" y="7379134"/>
            <a:ext cx="3508235" cy="25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837">
                <a:solidFill>
                  <a:srgbClr val="13101D"/>
                </a:solidFill>
                <a:latin typeface="Arial MT Pro"/>
                <a:ea typeface="Arial MT Pro"/>
                <a:cs typeface="Arial MT Pro"/>
                <a:sym typeface="Arial MT Pro"/>
              </a:rPr>
              <a:t>Crowd</a:t>
            </a:r>
            <a:r>
              <a:rPr lang="en-US" sz="1837">
                <a:solidFill>
                  <a:srgbClr val="13101D"/>
                </a:solidFill>
                <a:latin typeface="Arial MT Pro"/>
                <a:ea typeface="Arial MT Pro"/>
                <a:cs typeface="Arial MT Pro"/>
                <a:sym typeface="Arial MT Pro"/>
              </a:rPr>
              <a:t>ed / Thermal Activity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23428" y="8368987"/>
            <a:ext cx="3508235" cy="25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837">
                <a:solidFill>
                  <a:srgbClr val="13101D"/>
                </a:solidFill>
                <a:latin typeface="Arial MT Pro"/>
                <a:ea typeface="Arial MT Pro"/>
                <a:cs typeface="Arial MT Pro"/>
                <a:sym typeface="Arial MT Pro"/>
              </a:rPr>
              <a:t>Security Bre</a:t>
            </a:r>
            <a:r>
              <a:rPr lang="en-US" sz="1837">
                <a:solidFill>
                  <a:srgbClr val="13101D"/>
                </a:solidFill>
                <a:latin typeface="Arial MT Pro"/>
                <a:ea typeface="Arial MT Pro"/>
                <a:cs typeface="Arial MT Pro"/>
                <a:sym typeface="Arial MT Pro"/>
              </a:rPr>
              <a:t>ach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06113" y="4154485"/>
            <a:ext cx="5036482" cy="218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1576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Instead of just watching a laboratory, ALG-1 tries to understand it.</a:t>
            </a:r>
          </a:p>
          <a:p>
            <a:pPr algn="l">
              <a:lnSpc>
                <a:spcPts val="2506"/>
              </a:lnSpc>
            </a:pPr>
            <a:r>
              <a:rPr lang="en-US" sz="1576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 smart system where multiple AI models work together to interpret what is happening in real time and respond accordingly.</a:t>
            </a:r>
          </a:p>
          <a:p>
            <a:pPr algn="l">
              <a:lnSpc>
                <a:spcPts val="2506"/>
              </a:lnSpc>
            </a:pPr>
            <a:r>
              <a:rPr lang="en-US" sz="1576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Inside this intelligence, the laboratory can shift between different “states” of reality: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271875" y="1200150"/>
            <a:ext cx="98742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03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2695573"/>
            <a:ext cx="15243175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W</a:t>
            </a: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hat is ALG 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2458" y="3477032"/>
            <a:ext cx="5665643" cy="5781268"/>
          </a:xfrm>
          <a:custGeom>
            <a:avLst/>
            <a:gdLst/>
            <a:ahLst/>
            <a:cxnLst/>
            <a:rect r="r" b="b" t="t" l="l"/>
            <a:pathLst>
              <a:path h="5781268" w="5665643">
                <a:moveTo>
                  <a:pt x="0" y="0"/>
                </a:moveTo>
                <a:lnTo>
                  <a:pt x="5665643" y="0"/>
                </a:lnTo>
                <a:lnTo>
                  <a:pt x="5665643" y="5781268"/>
                </a:lnTo>
                <a:lnTo>
                  <a:pt x="0" y="5781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15615" y="3513719"/>
            <a:ext cx="2160713" cy="1784596"/>
            <a:chOff x="0" y="0"/>
            <a:chExt cx="857212" cy="7079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89576" y="0"/>
                  </a:moveTo>
                  <a:lnTo>
                    <a:pt x="767636" y="0"/>
                  </a:lnTo>
                  <a:cubicBezTo>
                    <a:pt x="817107" y="0"/>
                    <a:pt x="857212" y="40105"/>
                    <a:pt x="857212" y="89576"/>
                  </a:cubicBezTo>
                  <a:lnTo>
                    <a:pt x="857212" y="618420"/>
                  </a:lnTo>
                  <a:cubicBezTo>
                    <a:pt x="857212" y="667891"/>
                    <a:pt x="817107" y="707996"/>
                    <a:pt x="767636" y="707996"/>
                  </a:cubicBezTo>
                  <a:lnTo>
                    <a:pt x="89576" y="707996"/>
                  </a:lnTo>
                  <a:cubicBezTo>
                    <a:pt x="65819" y="707996"/>
                    <a:pt x="43035" y="698558"/>
                    <a:pt x="26236" y="681760"/>
                  </a:cubicBezTo>
                  <a:cubicBezTo>
                    <a:pt x="9437" y="664961"/>
                    <a:pt x="0" y="642177"/>
                    <a:pt x="0" y="618420"/>
                  </a:cubicBezTo>
                  <a:lnTo>
                    <a:pt x="0" y="89576"/>
                  </a:lnTo>
                  <a:cubicBezTo>
                    <a:pt x="0" y="40105"/>
                    <a:pt x="40105" y="0"/>
                    <a:pt x="89576" y="0"/>
                  </a:cubicBezTo>
                  <a:close/>
                </a:path>
              </a:pathLst>
            </a:custGeom>
            <a:solidFill>
              <a:srgbClr val="F1F3F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857212" cy="736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15615" y="5475368"/>
            <a:ext cx="2160713" cy="1784596"/>
            <a:chOff x="0" y="0"/>
            <a:chExt cx="857212" cy="7079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89576" y="0"/>
                  </a:moveTo>
                  <a:lnTo>
                    <a:pt x="767636" y="0"/>
                  </a:lnTo>
                  <a:cubicBezTo>
                    <a:pt x="817107" y="0"/>
                    <a:pt x="857212" y="40105"/>
                    <a:pt x="857212" y="89576"/>
                  </a:cubicBezTo>
                  <a:lnTo>
                    <a:pt x="857212" y="618420"/>
                  </a:lnTo>
                  <a:cubicBezTo>
                    <a:pt x="857212" y="667891"/>
                    <a:pt x="817107" y="707996"/>
                    <a:pt x="767636" y="707996"/>
                  </a:cubicBezTo>
                  <a:lnTo>
                    <a:pt x="89576" y="707996"/>
                  </a:lnTo>
                  <a:cubicBezTo>
                    <a:pt x="65819" y="707996"/>
                    <a:pt x="43035" y="698558"/>
                    <a:pt x="26236" y="681760"/>
                  </a:cubicBezTo>
                  <a:cubicBezTo>
                    <a:pt x="9437" y="664961"/>
                    <a:pt x="0" y="642177"/>
                    <a:pt x="0" y="618420"/>
                  </a:cubicBezTo>
                  <a:lnTo>
                    <a:pt x="0" y="89576"/>
                  </a:lnTo>
                  <a:cubicBezTo>
                    <a:pt x="0" y="40105"/>
                    <a:pt x="40105" y="0"/>
                    <a:pt x="89576" y="0"/>
                  </a:cubicBezTo>
                  <a:close/>
                </a:path>
              </a:pathLst>
            </a:custGeom>
            <a:solidFill>
              <a:srgbClr val="F1F3F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57212" cy="736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733725" y="3604025"/>
            <a:ext cx="1594719" cy="614692"/>
          </a:xfrm>
          <a:custGeom>
            <a:avLst/>
            <a:gdLst/>
            <a:ahLst/>
            <a:cxnLst/>
            <a:rect r="r" b="b" t="t" l="l"/>
            <a:pathLst>
              <a:path h="614692" w="1594719">
                <a:moveTo>
                  <a:pt x="0" y="0"/>
                </a:moveTo>
                <a:lnTo>
                  <a:pt x="1594720" y="0"/>
                </a:lnTo>
                <a:lnTo>
                  <a:pt x="1594720" y="614692"/>
                </a:lnTo>
                <a:lnTo>
                  <a:pt x="0" y="6146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33725" y="5565675"/>
            <a:ext cx="1594719" cy="614692"/>
          </a:xfrm>
          <a:custGeom>
            <a:avLst/>
            <a:gdLst/>
            <a:ahLst/>
            <a:cxnLst/>
            <a:rect r="r" b="b" t="t" l="l"/>
            <a:pathLst>
              <a:path h="614692" w="1594719">
                <a:moveTo>
                  <a:pt x="0" y="0"/>
                </a:moveTo>
                <a:lnTo>
                  <a:pt x="1594720" y="0"/>
                </a:lnTo>
                <a:lnTo>
                  <a:pt x="1594720" y="614691"/>
                </a:lnTo>
                <a:lnTo>
                  <a:pt x="0" y="6146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815615" y="7437018"/>
            <a:ext cx="2160713" cy="1784596"/>
            <a:chOff x="0" y="0"/>
            <a:chExt cx="857212" cy="7079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89576" y="0"/>
                  </a:moveTo>
                  <a:lnTo>
                    <a:pt x="767636" y="0"/>
                  </a:lnTo>
                  <a:cubicBezTo>
                    <a:pt x="817107" y="0"/>
                    <a:pt x="857212" y="40105"/>
                    <a:pt x="857212" y="89576"/>
                  </a:cubicBezTo>
                  <a:lnTo>
                    <a:pt x="857212" y="618420"/>
                  </a:lnTo>
                  <a:cubicBezTo>
                    <a:pt x="857212" y="667891"/>
                    <a:pt x="817107" y="707996"/>
                    <a:pt x="767636" y="707996"/>
                  </a:cubicBezTo>
                  <a:lnTo>
                    <a:pt x="89576" y="707996"/>
                  </a:lnTo>
                  <a:cubicBezTo>
                    <a:pt x="65819" y="707996"/>
                    <a:pt x="43035" y="698558"/>
                    <a:pt x="26236" y="681760"/>
                  </a:cubicBezTo>
                  <a:cubicBezTo>
                    <a:pt x="9437" y="664961"/>
                    <a:pt x="0" y="642177"/>
                    <a:pt x="0" y="618420"/>
                  </a:cubicBezTo>
                  <a:lnTo>
                    <a:pt x="0" y="89576"/>
                  </a:lnTo>
                  <a:cubicBezTo>
                    <a:pt x="0" y="40105"/>
                    <a:pt x="40105" y="0"/>
                    <a:pt x="89576" y="0"/>
                  </a:cubicBezTo>
                  <a:close/>
                </a:path>
              </a:pathLst>
            </a:custGeom>
            <a:solidFill>
              <a:srgbClr val="F1F3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57212" cy="736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733725" y="7527324"/>
            <a:ext cx="1594719" cy="614692"/>
          </a:xfrm>
          <a:custGeom>
            <a:avLst/>
            <a:gdLst/>
            <a:ahLst/>
            <a:cxnLst/>
            <a:rect r="r" b="b" t="t" l="l"/>
            <a:pathLst>
              <a:path h="614692" w="1594719">
                <a:moveTo>
                  <a:pt x="0" y="0"/>
                </a:moveTo>
                <a:lnTo>
                  <a:pt x="1594720" y="0"/>
                </a:lnTo>
                <a:lnTo>
                  <a:pt x="1594720" y="614692"/>
                </a:lnTo>
                <a:lnTo>
                  <a:pt x="0" y="6146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304829" y="4494543"/>
            <a:ext cx="2160713" cy="1784596"/>
            <a:chOff x="0" y="0"/>
            <a:chExt cx="857212" cy="7079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89576" y="0"/>
                  </a:moveTo>
                  <a:lnTo>
                    <a:pt x="767636" y="0"/>
                  </a:lnTo>
                  <a:cubicBezTo>
                    <a:pt x="817107" y="0"/>
                    <a:pt x="857212" y="40105"/>
                    <a:pt x="857212" y="89576"/>
                  </a:cubicBezTo>
                  <a:lnTo>
                    <a:pt x="857212" y="618420"/>
                  </a:lnTo>
                  <a:cubicBezTo>
                    <a:pt x="857212" y="667891"/>
                    <a:pt x="817107" y="707996"/>
                    <a:pt x="767636" y="707996"/>
                  </a:cubicBezTo>
                  <a:lnTo>
                    <a:pt x="89576" y="707996"/>
                  </a:lnTo>
                  <a:cubicBezTo>
                    <a:pt x="65819" y="707996"/>
                    <a:pt x="43035" y="698558"/>
                    <a:pt x="26236" y="681760"/>
                  </a:cubicBezTo>
                  <a:cubicBezTo>
                    <a:pt x="9437" y="664961"/>
                    <a:pt x="0" y="642177"/>
                    <a:pt x="0" y="618420"/>
                  </a:cubicBezTo>
                  <a:lnTo>
                    <a:pt x="0" y="89576"/>
                  </a:lnTo>
                  <a:cubicBezTo>
                    <a:pt x="0" y="40105"/>
                    <a:pt x="40105" y="0"/>
                    <a:pt x="89576" y="0"/>
                  </a:cubicBezTo>
                  <a:close/>
                </a:path>
              </a:pathLst>
            </a:custGeom>
            <a:solidFill>
              <a:srgbClr val="F1F3F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57212" cy="736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222939" y="4584850"/>
            <a:ext cx="1594719" cy="614692"/>
          </a:xfrm>
          <a:custGeom>
            <a:avLst/>
            <a:gdLst/>
            <a:ahLst/>
            <a:cxnLst/>
            <a:rect r="r" b="b" t="t" l="l"/>
            <a:pathLst>
              <a:path h="614692" w="1594719">
                <a:moveTo>
                  <a:pt x="0" y="0"/>
                </a:moveTo>
                <a:lnTo>
                  <a:pt x="1594719" y="0"/>
                </a:lnTo>
                <a:lnTo>
                  <a:pt x="1594719" y="614692"/>
                </a:lnTo>
                <a:lnTo>
                  <a:pt x="0" y="6146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304829" y="6456193"/>
            <a:ext cx="2160713" cy="1784596"/>
            <a:chOff x="0" y="0"/>
            <a:chExt cx="857212" cy="7079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89576" y="0"/>
                  </a:moveTo>
                  <a:lnTo>
                    <a:pt x="767636" y="0"/>
                  </a:lnTo>
                  <a:cubicBezTo>
                    <a:pt x="817107" y="0"/>
                    <a:pt x="857212" y="40105"/>
                    <a:pt x="857212" y="89576"/>
                  </a:cubicBezTo>
                  <a:lnTo>
                    <a:pt x="857212" y="618420"/>
                  </a:lnTo>
                  <a:cubicBezTo>
                    <a:pt x="857212" y="667891"/>
                    <a:pt x="817107" y="707996"/>
                    <a:pt x="767636" y="707996"/>
                  </a:cubicBezTo>
                  <a:lnTo>
                    <a:pt x="89576" y="707996"/>
                  </a:lnTo>
                  <a:cubicBezTo>
                    <a:pt x="65819" y="707996"/>
                    <a:pt x="43035" y="698558"/>
                    <a:pt x="26236" y="681760"/>
                  </a:cubicBezTo>
                  <a:cubicBezTo>
                    <a:pt x="9437" y="664961"/>
                    <a:pt x="0" y="642177"/>
                    <a:pt x="0" y="618420"/>
                  </a:cubicBezTo>
                  <a:lnTo>
                    <a:pt x="0" y="89576"/>
                  </a:lnTo>
                  <a:cubicBezTo>
                    <a:pt x="0" y="40105"/>
                    <a:pt x="40105" y="0"/>
                    <a:pt x="89576" y="0"/>
                  </a:cubicBezTo>
                  <a:close/>
                </a:path>
              </a:pathLst>
            </a:custGeom>
            <a:solidFill>
              <a:srgbClr val="F1F3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857212" cy="736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2222939" y="6546500"/>
            <a:ext cx="1594719" cy="614692"/>
          </a:xfrm>
          <a:custGeom>
            <a:avLst/>
            <a:gdLst/>
            <a:ahLst/>
            <a:cxnLst/>
            <a:rect r="r" b="b" t="t" l="l"/>
            <a:pathLst>
              <a:path h="614692" w="1594719">
                <a:moveTo>
                  <a:pt x="0" y="0"/>
                </a:moveTo>
                <a:lnTo>
                  <a:pt x="1594719" y="0"/>
                </a:lnTo>
                <a:lnTo>
                  <a:pt x="1594719" y="614691"/>
                </a:lnTo>
                <a:lnTo>
                  <a:pt x="0" y="6146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830537" y="6493524"/>
            <a:ext cx="629182" cy="629182"/>
          </a:xfrm>
          <a:custGeom>
            <a:avLst/>
            <a:gdLst/>
            <a:ahLst/>
            <a:cxnLst/>
            <a:rect r="r" b="b" t="t" l="l"/>
            <a:pathLst>
              <a:path h="629182" w="629182">
                <a:moveTo>
                  <a:pt x="0" y="0"/>
                </a:moveTo>
                <a:lnTo>
                  <a:pt x="629182" y="0"/>
                </a:lnTo>
                <a:lnTo>
                  <a:pt x="629182" y="629182"/>
                </a:lnTo>
                <a:lnTo>
                  <a:pt x="0" y="6291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159574" y="4648675"/>
            <a:ext cx="473141" cy="473141"/>
          </a:xfrm>
          <a:custGeom>
            <a:avLst/>
            <a:gdLst/>
            <a:ahLst/>
            <a:cxnLst/>
            <a:rect r="r" b="b" t="t" l="l"/>
            <a:pathLst>
              <a:path h="473141" w="473141">
                <a:moveTo>
                  <a:pt x="0" y="0"/>
                </a:moveTo>
                <a:lnTo>
                  <a:pt x="473141" y="0"/>
                </a:lnTo>
                <a:lnTo>
                  <a:pt x="473141" y="473141"/>
                </a:lnTo>
                <a:lnTo>
                  <a:pt x="0" y="47314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087614" y="4705488"/>
            <a:ext cx="494054" cy="494054"/>
          </a:xfrm>
          <a:custGeom>
            <a:avLst/>
            <a:gdLst/>
            <a:ahLst/>
            <a:cxnLst/>
            <a:rect r="r" b="b" t="t" l="l"/>
            <a:pathLst>
              <a:path h="494054" w="494054">
                <a:moveTo>
                  <a:pt x="0" y="0"/>
                </a:moveTo>
                <a:lnTo>
                  <a:pt x="494054" y="0"/>
                </a:lnTo>
                <a:lnTo>
                  <a:pt x="494054" y="494054"/>
                </a:lnTo>
                <a:lnTo>
                  <a:pt x="0" y="49405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334641" y="7152051"/>
            <a:ext cx="494054" cy="494054"/>
          </a:xfrm>
          <a:custGeom>
            <a:avLst/>
            <a:gdLst/>
            <a:ahLst/>
            <a:cxnLst/>
            <a:rect r="r" b="b" t="t" l="l"/>
            <a:pathLst>
              <a:path h="494054" w="494054">
                <a:moveTo>
                  <a:pt x="0" y="0"/>
                </a:moveTo>
                <a:lnTo>
                  <a:pt x="494054" y="0"/>
                </a:lnTo>
                <a:lnTo>
                  <a:pt x="494054" y="494054"/>
                </a:lnTo>
                <a:lnTo>
                  <a:pt x="0" y="49405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097900" y="4447078"/>
            <a:ext cx="1637549" cy="53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  <a:spcBef>
                <a:spcPct val="0"/>
              </a:spcBef>
            </a:pPr>
            <a:r>
              <a:rPr lang="en-US" sz="1062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Collects real-time</a:t>
            </a:r>
            <a:r>
              <a:rPr lang="en-US" sz="1062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sensor data via ESP32 and sends it to the cloud.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97900" y="6408728"/>
            <a:ext cx="1637549" cy="716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  <a:spcBef>
                <a:spcPct val="0"/>
              </a:spcBef>
            </a:pPr>
            <a:r>
              <a:rPr lang="en-US" sz="1062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Applies AI</a:t>
            </a:r>
            <a:r>
              <a:rPr lang="en-US" sz="1062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models to extract patterns and detect anomalies.</a:t>
            </a:r>
          </a:p>
          <a:p>
            <a:pPr algn="l">
              <a:lnSpc>
                <a:spcPts val="1487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930286" y="3804385"/>
            <a:ext cx="1398159" cy="17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  <a:spcBef>
                <a:spcPct val="0"/>
              </a:spcBef>
            </a:pPr>
            <a:r>
              <a:rPr lang="en-US" sz="1062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Sense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30286" y="5766035"/>
            <a:ext cx="1398159" cy="17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  <a:spcBef>
                <a:spcPct val="0"/>
              </a:spcBef>
            </a:pPr>
            <a:r>
              <a:rPr lang="en-US" sz="1062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Analyze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03883" y="3763904"/>
            <a:ext cx="331566" cy="26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0"/>
              </a:lnSpc>
              <a:spcBef>
                <a:spcPct val="0"/>
              </a:spcBef>
            </a:pPr>
            <a:r>
              <a:rPr lang="en-US" b="true" sz="1593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01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03883" y="5725554"/>
            <a:ext cx="331566" cy="26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0"/>
              </a:lnSpc>
              <a:spcBef>
                <a:spcPct val="0"/>
              </a:spcBef>
            </a:pPr>
            <a:r>
              <a:rPr lang="en-US" b="true" sz="1593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97900" y="8370378"/>
            <a:ext cx="1637549" cy="53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  <a:spcBef>
                <a:spcPct val="0"/>
              </a:spcBef>
            </a:pPr>
            <a:r>
              <a:rPr lang="en-US" sz="1062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choose the best action based on system state.</a:t>
            </a:r>
          </a:p>
          <a:p>
            <a:pPr algn="l">
              <a:lnSpc>
                <a:spcPts val="1487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930286" y="7727685"/>
            <a:ext cx="1398159" cy="17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  <a:spcBef>
                <a:spcPct val="0"/>
              </a:spcBef>
            </a:pPr>
            <a:r>
              <a:rPr lang="en-US" sz="1062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Decide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03883" y="7687204"/>
            <a:ext cx="331566" cy="26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0"/>
              </a:lnSpc>
              <a:spcBef>
                <a:spcPct val="0"/>
              </a:spcBef>
            </a:pPr>
            <a:r>
              <a:rPr lang="en-US" b="true" sz="1593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87114" y="5427903"/>
            <a:ext cx="1637549" cy="53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  <a:spcBef>
                <a:spcPct val="0"/>
              </a:spcBef>
            </a:pPr>
            <a:r>
              <a:rPr lang="en-US" sz="1062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Triggers actuators </a:t>
            </a:r>
            <a:r>
              <a:rPr lang="en-US" sz="1062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 real time.</a:t>
            </a:r>
          </a:p>
          <a:p>
            <a:pPr algn="l">
              <a:lnSpc>
                <a:spcPts val="1487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2419499" y="4785210"/>
            <a:ext cx="1398159" cy="17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  <a:spcBef>
                <a:spcPct val="0"/>
              </a:spcBef>
            </a:pPr>
            <a:r>
              <a:rPr lang="en-US" sz="1062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Ac</a:t>
            </a:r>
            <a:r>
              <a:rPr lang="en-US" sz="1062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893097" y="4744729"/>
            <a:ext cx="331566" cy="26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0"/>
              </a:lnSpc>
              <a:spcBef>
                <a:spcPct val="0"/>
              </a:spcBef>
            </a:pPr>
            <a:r>
              <a:rPr lang="en-US" b="true" sz="1593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04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87114" y="7389553"/>
            <a:ext cx="1637549" cy="716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  <a:spcBef>
                <a:spcPct val="0"/>
              </a:spcBef>
            </a:pPr>
            <a:r>
              <a:rPr lang="en-US" sz="1062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Improves</a:t>
            </a:r>
            <a:r>
              <a:rPr lang="en-US" sz="1062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future decisions using feedback and updates.</a:t>
            </a:r>
          </a:p>
          <a:p>
            <a:pPr algn="l">
              <a:lnSpc>
                <a:spcPts val="1487"/>
              </a:lnSpc>
              <a:spcBef>
                <a:spcPct val="0"/>
              </a:spcBef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2419499" y="6746860"/>
            <a:ext cx="1398159" cy="17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  <a:spcBef>
                <a:spcPct val="0"/>
              </a:spcBef>
            </a:pPr>
            <a:r>
              <a:rPr lang="en-US" sz="1062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Learn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893097" y="6706379"/>
            <a:ext cx="331566" cy="26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0"/>
              </a:lnSpc>
              <a:spcBef>
                <a:spcPct val="0"/>
              </a:spcBef>
            </a:pPr>
            <a:r>
              <a:rPr lang="en-US" b="true" sz="1593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05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6408253" y="8240789"/>
            <a:ext cx="494054" cy="494054"/>
          </a:xfrm>
          <a:custGeom>
            <a:avLst/>
            <a:gdLst/>
            <a:ahLst/>
            <a:cxnLst/>
            <a:rect r="r" b="b" t="t" l="l"/>
            <a:pathLst>
              <a:path h="494054" w="494054">
                <a:moveTo>
                  <a:pt x="0" y="0"/>
                </a:moveTo>
                <a:lnTo>
                  <a:pt x="494054" y="0"/>
                </a:lnTo>
                <a:lnTo>
                  <a:pt x="494054" y="494054"/>
                </a:lnTo>
                <a:lnTo>
                  <a:pt x="0" y="49405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6271875" y="1200150"/>
            <a:ext cx="98742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04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8700" y="2695573"/>
            <a:ext cx="15243175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How I</a:t>
            </a: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t Works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325467" y="5485016"/>
            <a:ext cx="2659626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FROM RAW S</a:t>
            </a: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ENSORS TO SMART DECISIONS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682738" y="3365499"/>
            <a:ext cx="6922524" cy="5087239"/>
          </a:xfrm>
          <a:custGeom>
            <a:avLst/>
            <a:gdLst/>
            <a:ahLst/>
            <a:cxnLst/>
            <a:rect r="r" b="b" t="t" l="l"/>
            <a:pathLst>
              <a:path h="5087239" w="6922524">
                <a:moveTo>
                  <a:pt x="0" y="0"/>
                </a:moveTo>
                <a:lnTo>
                  <a:pt x="6922524" y="0"/>
                </a:lnTo>
                <a:lnTo>
                  <a:pt x="6922524" y="5087239"/>
                </a:lnTo>
                <a:lnTo>
                  <a:pt x="0" y="50872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889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695573"/>
            <a:ext cx="15243175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Sense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71875" y="1200150"/>
            <a:ext cx="98742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8963" y="8845550"/>
            <a:ext cx="1544264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EVERY 5 VARIABL</a:t>
            </a: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ES, CAPTURED CONTINUOUSLY, FEEDING THE BRAIN IN REAL-TIME</a:t>
            </a:r>
          </a:p>
        </p:txBody>
      </p:sp>
      <p:sp>
        <p:nvSpPr>
          <p:cNvPr name="TextBox 11" id="11"/>
          <p:cNvSpPr txBox="true"/>
          <p:nvPr/>
        </p:nvSpPr>
        <p:spPr>
          <a:xfrm rot="5400000">
            <a:off x="11190541" y="4701929"/>
            <a:ext cx="2867542" cy="29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1"/>
              </a:lnSpc>
              <a:spcBef>
                <a:spcPct val="0"/>
              </a:spcBef>
            </a:pPr>
            <a:r>
              <a:rPr lang="en-US" sz="172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72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ir Quality</a:t>
            </a:r>
          </a:p>
        </p:txBody>
      </p:sp>
      <p:sp>
        <p:nvSpPr>
          <p:cNvPr name="TextBox 12" id="12"/>
          <p:cNvSpPr txBox="true"/>
          <p:nvPr/>
        </p:nvSpPr>
        <p:spPr>
          <a:xfrm rot="5400000">
            <a:off x="11190541" y="6972481"/>
            <a:ext cx="2867542" cy="29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1"/>
              </a:lnSpc>
              <a:spcBef>
                <a:spcPct val="0"/>
              </a:spcBef>
            </a:pPr>
            <a:r>
              <a:rPr lang="en-US" sz="172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Mo</a:t>
            </a:r>
            <a:r>
              <a:rPr lang="en-US" sz="172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tion Detection</a:t>
            </a:r>
          </a:p>
        </p:txBody>
      </p:sp>
      <p:sp>
        <p:nvSpPr>
          <p:cNvPr name="TextBox 13" id="13"/>
          <p:cNvSpPr txBox="true"/>
          <p:nvPr/>
        </p:nvSpPr>
        <p:spPr>
          <a:xfrm rot="-5400000">
            <a:off x="4229917" y="4701929"/>
            <a:ext cx="2867542" cy="29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1"/>
              </a:lnSpc>
              <a:spcBef>
                <a:spcPct val="0"/>
              </a:spcBef>
            </a:pPr>
            <a:r>
              <a:rPr lang="en-US" sz="172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72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emperature &amp; Humidity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4285260" y="7196477"/>
            <a:ext cx="2867542" cy="29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1"/>
              </a:lnSpc>
              <a:spcBef>
                <a:spcPct val="0"/>
              </a:spcBef>
            </a:pPr>
            <a:r>
              <a:rPr lang="en-US" sz="172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</a:t>
            </a:r>
            <a:r>
              <a:rPr lang="en-US" sz="172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ight Levels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553630" y="4166021"/>
            <a:ext cx="10580118" cy="1999253"/>
          </a:xfrm>
          <a:custGeom>
            <a:avLst/>
            <a:gdLst/>
            <a:ahLst/>
            <a:cxnLst/>
            <a:rect r="r" b="b" t="t" l="l"/>
            <a:pathLst>
              <a:path h="1999253" w="10580118">
                <a:moveTo>
                  <a:pt x="0" y="0"/>
                </a:moveTo>
                <a:lnTo>
                  <a:pt x="10580117" y="0"/>
                </a:lnTo>
                <a:lnTo>
                  <a:pt x="10580117" y="1999253"/>
                </a:lnTo>
                <a:lnTo>
                  <a:pt x="0" y="1999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95159" y="4166021"/>
            <a:ext cx="2600623" cy="1999253"/>
          </a:xfrm>
          <a:custGeom>
            <a:avLst/>
            <a:gdLst/>
            <a:ahLst/>
            <a:cxnLst/>
            <a:rect r="r" b="b" t="t" l="l"/>
            <a:pathLst>
              <a:path h="1999253" w="2600623">
                <a:moveTo>
                  <a:pt x="0" y="0"/>
                </a:moveTo>
                <a:lnTo>
                  <a:pt x="2600623" y="0"/>
                </a:lnTo>
                <a:lnTo>
                  <a:pt x="2600623" y="1999253"/>
                </a:lnTo>
                <a:lnTo>
                  <a:pt x="0" y="19992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30683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028700" y="6682324"/>
            <a:ext cx="16230600" cy="0"/>
          </a:xfrm>
          <a:prstGeom prst="line">
            <a:avLst/>
          </a:prstGeom>
          <a:ln cap="flat" w="76200">
            <a:solidFill>
              <a:srgbClr val="DBE0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444151" y="6568803"/>
            <a:ext cx="227041" cy="22704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CCB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08918" y="6568803"/>
            <a:ext cx="227041" cy="22704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AFA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73685" y="6568803"/>
            <a:ext cx="227041" cy="22704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907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438452" y="6568803"/>
            <a:ext cx="227041" cy="22704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B535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143791" y="6568803"/>
            <a:ext cx="227041" cy="22704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63D5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299109" y="4736160"/>
            <a:ext cx="517124" cy="517124"/>
          </a:xfrm>
          <a:custGeom>
            <a:avLst/>
            <a:gdLst/>
            <a:ahLst/>
            <a:cxnLst/>
            <a:rect r="r" b="b" t="t" l="l"/>
            <a:pathLst>
              <a:path h="517124" w="517124">
                <a:moveTo>
                  <a:pt x="0" y="0"/>
                </a:moveTo>
                <a:lnTo>
                  <a:pt x="517125" y="0"/>
                </a:lnTo>
                <a:lnTo>
                  <a:pt x="517125" y="517124"/>
                </a:lnTo>
                <a:lnTo>
                  <a:pt x="0" y="5171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903148" y="4736160"/>
            <a:ext cx="646405" cy="517124"/>
          </a:xfrm>
          <a:custGeom>
            <a:avLst/>
            <a:gdLst/>
            <a:ahLst/>
            <a:cxnLst/>
            <a:rect r="r" b="b" t="t" l="l"/>
            <a:pathLst>
              <a:path h="517124" w="646405">
                <a:moveTo>
                  <a:pt x="0" y="0"/>
                </a:moveTo>
                <a:lnTo>
                  <a:pt x="646406" y="0"/>
                </a:lnTo>
                <a:lnTo>
                  <a:pt x="646406" y="517124"/>
                </a:lnTo>
                <a:lnTo>
                  <a:pt x="0" y="5171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635529" y="4692653"/>
            <a:ext cx="548996" cy="548996"/>
          </a:xfrm>
          <a:custGeom>
            <a:avLst/>
            <a:gdLst/>
            <a:ahLst/>
            <a:cxnLst/>
            <a:rect r="r" b="b" t="t" l="l"/>
            <a:pathLst>
              <a:path h="548996" w="548996">
                <a:moveTo>
                  <a:pt x="0" y="0"/>
                </a:moveTo>
                <a:lnTo>
                  <a:pt x="548995" y="0"/>
                </a:lnTo>
                <a:lnTo>
                  <a:pt x="548995" y="548996"/>
                </a:lnTo>
                <a:lnTo>
                  <a:pt x="0" y="5489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270499" y="4802770"/>
            <a:ext cx="639838" cy="383903"/>
          </a:xfrm>
          <a:custGeom>
            <a:avLst/>
            <a:gdLst/>
            <a:ahLst/>
            <a:cxnLst/>
            <a:rect r="r" b="b" t="t" l="l"/>
            <a:pathLst>
              <a:path h="383903" w="639838">
                <a:moveTo>
                  <a:pt x="0" y="0"/>
                </a:moveTo>
                <a:lnTo>
                  <a:pt x="639838" y="0"/>
                </a:lnTo>
                <a:lnTo>
                  <a:pt x="639838" y="383903"/>
                </a:lnTo>
                <a:lnTo>
                  <a:pt x="0" y="3839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010301" y="4759264"/>
            <a:ext cx="494020" cy="494020"/>
          </a:xfrm>
          <a:custGeom>
            <a:avLst/>
            <a:gdLst/>
            <a:ahLst/>
            <a:cxnLst/>
            <a:rect r="r" b="b" t="t" l="l"/>
            <a:pathLst>
              <a:path h="494020" w="494020">
                <a:moveTo>
                  <a:pt x="0" y="0"/>
                </a:moveTo>
                <a:lnTo>
                  <a:pt x="494020" y="0"/>
                </a:lnTo>
                <a:lnTo>
                  <a:pt x="494020" y="494020"/>
                </a:lnTo>
                <a:lnTo>
                  <a:pt x="0" y="4940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28700" y="2695573"/>
            <a:ext cx="15243175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ANALYZE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271875" y="1200150"/>
            <a:ext cx="98742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06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53630" y="7032497"/>
            <a:ext cx="2008084" cy="293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2"/>
              </a:lnSpc>
              <a:spcBef>
                <a:spcPct val="0"/>
              </a:spcBef>
            </a:pPr>
            <a:r>
              <a:rPr lang="en-US" b="true" sz="169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Noise Reduction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53630" y="5623757"/>
            <a:ext cx="2008084" cy="21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  <a:spcBef>
                <a:spcPct val="0"/>
              </a:spcBef>
            </a:pPr>
            <a:r>
              <a:rPr lang="en-US" b="true" sz="135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PCA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18397" y="7032497"/>
            <a:ext cx="2008084" cy="293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2"/>
              </a:lnSpc>
              <a:spcBef>
                <a:spcPct val="0"/>
              </a:spcBef>
            </a:pPr>
            <a:r>
              <a:rPr lang="en-US" b="true" sz="169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relationships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18397" y="5623757"/>
            <a:ext cx="2008084" cy="21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  <a:spcBef>
                <a:spcPct val="0"/>
              </a:spcBef>
            </a:pPr>
            <a:r>
              <a:rPr lang="en-US" b="true" sz="135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GNN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883164" y="7032497"/>
            <a:ext cx="2008084" cy="293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2"/>
              </a:lnSpc>
              <a:spcBef>
                <a:spcPct val="0"/>
              </a:spcBef>
            </a:pPr>
            <a:r>
              <a:rPr lang="en-US" b="true" sz="169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Classification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83164" y="5623757"/>
            <a:ext cx="2008084" cy="21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  <a:spcBef>
                <a:spcPct val="0"/>
              </a:spcBef>
            </a:pPr>
            <a:r>
              <a:rPr lang="en-US" b="true" sz="135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SOM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547931" y="7032497"/>
            <a:ext cx="2008084" cy="293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2"/>
              </a:lnSpc>
              <a:spcBef>
                <a:spcPct val="0"/>
              </a:spcBef>
            </a:pPr>
            <a:r>
              <a:rPr lang="en-US" b="true" sz="169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Trend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547931" y="5623757"/>
            <a:ext cx="2008084" cy="21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  <a:spcBef>
                <a:spcPct val="0"/>
              </a:spcBef>
            </a:pPr>
            <a:r>
              <a:rPr lang="en-US" b="true" sz="135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RBF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253269" y="7032497"/>
            <a:ext cx="2008084" cy="293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2"/>
              </a:lnSpc>
              <a:spcBef>
                <a:spcPct val="0"/>
              </a:spcBef>
            </a:pPr>
            <a:r>
              <a:rPr lang="en-US" b="true" sz="169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Novelty Detection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295159" y="5607191"/>
            <a:ext cx="2008084" cy="21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  <a:spcBef>
                <a:spcPct val="0"/>
              </a:spcBef>
            </a:pPr>
            <a:r>
              <a:rPr lang="en-US" b="true" sz="135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ART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553630" y="7448463"/>
            <a:ext cx="2008084" cy="1388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  <a:spcBef>
                <a:spcPct val="0"/>
              </a:spcBef>
            </a:pPr>
            <a:r>
              <a:rPr lang="en-US" sz="13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Reduces da</a:t>
            </a:r>
            <a:r>
              <a:rPr lang="en-US" sz="13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ta dimensionality while retaining 97.31% of the total variance, ensuring efficient and reliable analysis.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104876" y="7448463"/>
            <a:ext cx="2008084" cy="920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  <a:spcBef>
                <a:spcPct val="0"/>
              </a:spcBef>
            </a:pPr>
            <a:r>
              <a:rPr lang="en-US" sz="13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Determin</a:t>
            </a:r>
            <a:r>
              <a:rPr lang="en-US" sz="13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 how events, such as gas leaks, may propagate across different sensor locations.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883164" y="7448463"/>
            <a:ext cx="2008084" cy="68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  <a:spcBef>
                <a:spcPct val="0"/>
              </a:spcBef>
            </a:pPr>
            <a:r>
              <a:rPr lang="en-US" sz="13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Class</a:t>
            </a:r>
            <a:r>
              <a:rPr lang="en-US" sz="13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ifies sensor conditions into predefined categories.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468249" y="7448463"/>
            <a:ext cx="2167446" cy="115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  <a:spcBef>
                <a:spcPct val="0"/>
              </a:spcBef>
            </a:pPr>
            <a:r>
              <a:rPr lang="en-US" sz="13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</a:t>
            </a:r>
            <a:r>
              <a:rPr lang="en-US" sz="13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istinguishes between gradual changes (slow drift) and abrupt anomalies (sudden spikes) to improve event detection.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133747" y="7448463"/>
            <a:ext cx="2247127" cy="920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"/>
              </a:lnSpc>
              <a:spcBef>
                <a:spcPct val="0"/>
              </a:spcBef>
            </a:pPr>
            <a:r>
              <a:rPr lang="en-US" sz="13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Id</a:t>
            </a:r>
            <a:r>
              <a:rPr lang="en-US" sz="135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entifies unusual or previously unseen situations, enabling early warning for unexpected events.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22939" y="8845550"/>
            <a:ext cx="1544264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MAK</a:t>
            </a: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ING SENSE OF THE NOISE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3713" y="4203581"/>
            <a:ext cx="4018516" cy="4218848"/>
            <a:chOff x="0" y="0"/>
            <a:chExt cx="1263322" cy="13263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3322" cy="1326302"/>
            </a:xfrm>
            <a:custGeom>
              <a:avLst/>
              <a:gdLst/>
              <a:ahLst/>
              <a:cxnLst/>
              <a:rect r="r" b="b" t="t" l="l"/>
              <a:pathLst>
                <a:path h="1326302" w="1263322">
                  <a:moveTo>
                    <a:pt x="38531" y="0"/>
                  </a:moveTo>
                  <a:lnTo>
                    <a:pt x="1224791" y="0"/>
                  </a:lnTo>
                  <a:cubicBezTo>
                    <a:pt x="1246071" y="0"/>
                    <a:pt x="1263322" y="17251"/>
                    <a:pt x="1263322" y="38531"/>
                  </a:cubicBezTo>
                  <a:lnTo>
                    <a:pt x="1263322" y="1287770"/>
                  </a:lnTo>
                  <a:cubicBezTo>
                    <a:pt x="1263322" y="1309051"/>
                    <a:pt x="1246071" y="1326302"/>
                    <a:pt x="1224791" y="1326302"/>
                  </a:cubicBezTo>
                  <a:lnTo>
                    <a:pt x="38531" y="1326302"/>
                  </a:lnTo>
                  <a:cubicBezTo>
                    <a:pt x="17251" y="1326302"/>
                    <a:pt x="0" y="1309051"/>
                    <a:pt x="0" y="1287770"/>
                  </a:cubicBezTo>
                  <a:lnTo>
                    <a:pt x="0" y="38531"/>
                  </a:lnTo>
                  <a:cubicBezTo>
                    <a:pt x="0" y="17251"/>
                    <a:pt x="17251" y="0"/>
                    <a:pt x="38531" y="0"/>
                  </a:cubicBezTo>
                  <a:close/>
                </a:path>
              </a:pathLst>
            </a:custGeom>
            <a:solidFill>
              <a:srgbClr val="4C8D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63322" cy="1373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36266" y="4203581"/>
            <a:ext cx="4018516" cy="4218848"/>
            <a:chOff x="0" y="0"/>
            <a:chExt cx="1263322" cy="13263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3322" cy="1326302"/>
            </a:xfrm>
            <a:custGeom>
              <a:avLst/>
              <a:gdLst/>
              <a:ahLst/>
              <a:cxnLst/>
              <a:rect r="r" b="b" t="t" l="l"/>
              <a:pathLst>
                <a:path h="1326302" w="1263322">
                  <a:moveTo>
                    <a:pt x="38531" y="0"/>
                  </a:moveTo>
                  <a:lnTo>
                    <a:pt x="1224791" y="0"/>
                  </a:lnTo>
                  <a:cubicBezTo>
                    <a:pt x="1246071" y="0"/>
                    <a:pt x="1263322" y="17251"/>
                    <a:pt x="1263322" y="38531"/>
                  </a:cubicBezTo>
                  <a:lnTo>
                    <a:pt x="1263322" y="1287770"/>
                  </a:lnTo>
                  <a:cubicBezTo>
                    <a:pt x="1263322" y="1309051"/>
                    <a:pt x="1246071" y="1326302"/>
                    <a:pt x="1224791" y="1326302"/>
                  </a:cubicBezTo>
                  <a:lnTo>
                    <a:pt x="38531" y="1326302"/>
                  </a:lnTo>
                  <a:cubicBezTo>
                    <a:pt x="17251" y="1326302"/>
                    <a:pt x="0" y="1309051"/>
                    <a:pt x="0" y="1287770"/>
                  </a:cubicBezTo>
                  <a:lnTo>
                    <a:pt x="0" y="38531"/>
                  </a:lnTo>
                  <a:cubicBezTo>
                    <a:pt x="0" y="17251"/>
                    <a:pt x="17251" y="0"/>
                    <a:pt x="38531" y="0"/>
                  </a:cubicBezTo>
                  <a:close/>
                </a:path>
              </a:pathLst>
            </a:custGeom>
            <a:solidFill>
              <a:srgbClr val="4C8D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63322" cy="1373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25771" y="4203581"/>
            <a:ext cx="4018516" cy="4218848"/>
            <a:chOff x="0" y="0"/>
            <a:chExt cx="1263322" cy="13263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3322" cy="1326302"/>
            </a:xfrm>
            <a:custGeom>
              <a:avLst/>
              <a:gdLst/>
              <a:ahLst/>
              <a:cxnLst/>
              <a:rect r="r" b="b" t="t" l="l"/>
              <a:pathLst>
                <a:path h="1326302" w="1263322">
                  <a:moveTo>
                    <a:pt x="38531" y="0"/>
                  </a:moveTo>
                  <a:lnTo>
                    <a:pt x="1224791" y="0"/>
                  </a:lnTo>
                  <a:cubicBezTo>
                    <a:pt x="1246071" y="0"/>
                    <a:pt x="1263322" y="17251"/>
                    <a:pt x="1263322" y="38531"/>
                  </a:cubicBezTo>
                  <a:lnTo>
                    <a:pt x="1263322" y="1287770"/>
                  </a:lnTo>
                  <a:cubicBezTo>
                    <a:pt x="1263322" y="1309051"/>
                    <a:pt x="1246071" y="1326302"/>
                    <a:pt x="1224791" y="1326302"/>
                  </a:cubicBezTo>
                  <a:lnTo>
                    <a:pt x="38531" y="1326302"/>
                  </a:lnTo>
                  <a:cubicBezTo>
                    <a:pt x="17251" y="1326302"/>
                    <a:pt x="0" y="1309051"/>
                    <a:pt x="0" y="1287770"/>
                  </a:cubicBezTo>
                  <a:lnTo>
                    <a:pt x="0" y="38531"/>
                  </a:lnTo>
                  <a:cubicBezTo>
                    <a:pt x="0" y="17251"/>
                    <a:pt x="17251" y="0"/>
                    <a:pt x="38531" y="0"/>
                  </a:cubicBezTo>
                  <a:close/>
                </a:path>
              </a:pathLst>
            </a:custGeom>
            <a:solidFill>
              <a:srgbClr val="4C8DF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63322" cy="1373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893280" y="4515878"/>
            <a:ext cx="916332" cy="921358"/>
          </a:xfrm>
          <a:custGeom>
            <a:avLst/>
            <a:gdLst/>
            <a:ahLst/>
            <a:cxnLst/>
            <a:rect r="r" b="b" t="t" l="l"/>
            <a:pathLst>
              <a:path h="921358" w="916332">
                <a:moveTo>
                  <a:pt x="0" y="0"/>
                </a:moveTo>
                <a:lnTo>
                  <a:pt x="916332" y="0"/>
                </a:lnTo>
                <a:lnTo>
                  <a:pt x="916332" y="921357"/>
                </a:lnTo>
                <a:lnTo>
                  <a:pt x="0" y="9213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819757" y="4569347"/>
            <a:ext cx="651535" cy="814419"/>
          </a:xfrm>
          <a:custGeom>
            <a:avLst/>
            <a:gdLst/>
            <a:ahLst/>
            <a:cxnLst/>
            <a:rect r="r" b="b" t="t" l="l"/>
            <a:pathLst>
              <a:path h="814419" w="651535">
                <a:moveTo>
                  <a:pt x="0" y="0"/>
                </a:moveTo>
                <a:lnTo>
                  <a:pt x="651535" y="0"/>
                </a:lnTo>
                <a:lnTo>
                  <a:pt x="651535" y="814419"/>
                </a:lnTo>
                <a:lnTo>
                  <a:pt x="0" y="814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435183" y="4476710"/>
            <a:ext cx="999692" cy="999692"/>
          </a:xfrm>
          <a:custGeom>
            <a:avLst/>
            <a:gdLst/>
            <a:ahLst/>
            <a:cxnLst/>
            <a:rect r="r" b="b" t="t" l="l"/>
            <a:pathLst>
              <a:path h="999692" w="999692">
                <a:moveTo>
                  <a:pt x="0" y="0"/>
                </a:moveTo>
                <a:lnTo>
                  <a:pt x="999692" y="0"/>
                </a:lnTo>
                <a:lnTo>
                  <a:pt x="999692" y="999693"/>
                </a:lnTo>
                <a:lnTo>
                  <a:pt x="0" y="9996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238227" y="5945201"/>
            <a:ext cx="3393604" cy="1436075"/>
            <a:chOff x="0" y="0"/>
            <a:chExt cx="4524806" cy="1914766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610847"/>
              <a:ext cx="4524806" cy="1303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7"/>
                </a:lnSpc>
              </a:pPr>
              <a:r>
                <a:rPr lang="en-US" sz="1926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</a:t>
              </a:r>
              <a:r>
                <a:rPr lang="en-US" sz="1926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nverts the calculated risk into actionable states :</a:t>
              </a:r>
            </a:p>
            <a:p>
              <a:pPr algn="ctr">
                <a:lnSpc>
                  <a:spcPts val="2697"/>
                </a:lnSpc>
              </a:pPr>
              <a:r>
                <a:rPr lang="en-US" sz="1926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Normal - Warning - Critical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0"/>
              <a:ext cx="4524806" cy="4681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14"/>
                </a:lnSpc>
              </a:pPr>
              <a:r>
                <a:rPr lang="en-US" b="true" sz="234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</a:t>
              </a:r>
              <a:r>
                <a:rPr lang="en-US" b="true" sz="234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tuation Classification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448722" y="5945201"/>
            <a:ext cx="3393604" cy="1771225"/>
            <a:chOff x="0" y="0"/>
            <a:chExt cx="4524806" cy="2361633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610847"/>
              <a:ext cx="4524806" cy="1750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7"/>
                </a:lnSpc>
              </a:pPr>
              <a:r>
                <a:rPr lang="en-US" sz="1926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Produces </a:t>
              </a:r>
              <a:r>
                <a:rPr lang="en-US" sz="1926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 0–100% Risk Score representing the severity level derived from all sensor analyses.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0"/>
              <a:ext cx="4524806" cy="4681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14"/>
                </a:lnSpc>
              </a:pPr>
              <a:r>
                <a:rPr lang="en-US" b="true" sz="234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Risk Quan</a:t>
              </a:r>
              <a:r>
                <a:rPr lang="en-US" b="true" sz="234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tification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654644" y="5945201"/>
            <a:ext cx="3393604" cy="2441526"/>
            <a:chOff x="0" y="0"/>
            <a:chExt cx="4524806" cy="3255367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610847"/>
              <a:ext cx="4524806" cy="2644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7"/>
                </a:lnSpc>
              </a:pPr>
              <a:r>
                <a:rPr lang="en-US" sz="1926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Aggreg</a:t>
              </a:r>
              <a:r>
                <a:rPr lang="en-US" sz="1926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ates outputs from PCA, GNN, SOM, RBF, and ART2 using 27 fuzzy rules to generate a unified assessment.</a:t>
              </a:r>
            </a:p>
            <a:p>
              <a:pPr algn="ctr">
                <a:lnSpc>
                  <a:spcPts val="2697"/>
                </a:lnSpc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0"/>
              <a:ext cx="4524806" cy="4681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14"/>
                </a:lnSpc>
              </a:pPr>
              <a:r>
                <a:rPr lang="en-US" b="true" sz="234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Fuzzy L</a:t>
              </a:r>
              <a:r>
                <a:rPr lang="en-US" b="true" sz="234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ogic Engine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8700" y="2695573"/>
            <a:ext cx="15243175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Decide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271875" y="1200150"/>
            <a:ext cx="98742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07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2939" y="8845550"/>
            <a:ext cx="1544264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DECIDE: 27 RULES, ONE VERDICT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772215" y="2536416"/>
            <a:ext cx="8651052" cy="5825403"/>
          </a:xfrm>
          <a:custGeom>
            <a:avLst/>
            <a:gdLst/>
            <a:ahLst/>
            <a:cxnLst/>
            <a:rect r="r" b="b" t="t" l="l"/>
            <a:pathLst>
              <a:path h="5825403" w="8651052">
                <a:moveTo>
                  <a:pt x="0" y="0"/>
                </a:moveTo>
                <a:lnTo>
                  <a:pt x="8651052" y="0"/>
                </a:lnTo>
                <a:lnTo>
                  <a:pt x="8651052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069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695573"/>
            <a:ext cx="15243175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71875" y="1200150"/>
            <a:ext cx="98742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2939" y="8845550"/>
            <a:ext cx="1544264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FROM</a:t>
            </a: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DECISION TO ACTION IN MILLISECONDS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01354" y="3720060"/>
            <a:ext cx="2629895" cy="719285"/>
            <a:chOff x="0" y="0"/>
            <a:chExt cx="881800" cy="241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1801" cy="241175"/>
            </a:xfrm>
            <a:custGeom>
              <a:avLst/>
              <a:gdLst/>
              <a:ahLst/>
              <a:cxnLst/>
              <a:rect r="r" b="b" t="t" l="l"/>
              <a:pathLst>
                <a:path h="241175" w="881801">
                  <a:moveTo>
                    <a:pt x="120588" y="0"/>
                  </a:moveTo>
                  <a:lnTo>
                    <a:pt x="761213" y="0"/>
                  </a:lnTo>
                  <a:cubicBezTo>
                    <a:pt x="793195" y="0"/>
                    <a:pt x="823867" y="12705"/>
                    <a:pt x="846481" y="35319"/>
                  </a:cubicBezTo>
                  <a:cubicBezTo>
                    <a:pt x="869096" y="57934"/>
                    <a:pt x="881801" y="88606"/>
                    <a:pt x="881801" y="120588"/>
                  </a:cubicBezTo>
                  <a:lnTo>
                    <a:pt x="881801" y="120588"/>
                  </a:lnTo>
                  <a:cubicBezTo>
                    <a:pt x="881801" y="187186"/>
                    <a:pt x="827812" y="241175"/>
                    <a:pt x="761213" y="241175"/>
                  </a:cubicBezTo>
                  <a:lnTo>
                    <a:pt x="120588" y="241175"/>
                  </a:lnTo>
                  <a:cubicBezTo>
                    <a:pt x="53989" y="241175"/>
                    <a:pt x="0" y="187186"/>
                    <a:pt x="0" y="120588"/>
                  </a:cubicBezTo>
                  <a:lnTo>
                    <a:pt x="0" y="120588"/>
                  </a:lnTo>
                  <a:cubicBezTo>
                    <a:pt x="0" y="53989"/>
                    <a:pt x="53989" y="0"/>
                    <a:pt x="120588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1800" cy="279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Routine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87934" y="3720060"/>
            <a:ext cx="2718400" cy="719285"/>
            <a:chOff x="0" y="0"/>
            <a:chExt cx="911476" cy="2411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1476" cy="241175"/>
            </a:xfrm>
            <a:custGeom>
              <a:avLst/>
              <a:gdLst/>
              <a:ahLst/>
              <a:cxnLst/>
              <a:rect r="r" b="b" t="t" l="l"/>
              <a:pathLst>
                <a:path h="241175" w="911476">
                  <a:moveTo>
                    <a:pt x="120588" y="0"/>
                  </a:moveTo>
                  <a:lnTo>
                    <a:pt x="790888" y="0"/>
                  </a:lnTo>
                  <a:cubicBezTo>
                    <a:pt x="857487" y="0"/>
                    <a:pt x="911476" y="53989"/>
                    <a:pt x="911476" y="120588"/>
                  </a:cubicBezTo>
                  <a:lnTo>
                    <a:pt x="911476" y="120588"/>
                  </a:lnTo>
                  <a:cubicBezTo>
                    <a:pt x="911476" y="152570"/>
                    <a:pt x="898771" y="183241"/>
                    <a:pt x="876157" y="205856"/>
                  </a:cubicBezTo>
                  <a:cubicBezTo>
                    <a:pt x="853542" y="228471"/>
                    <a:pt x="822870" y="241175"/>
                    <a:pt x="790888" y="241175"/>
                  </a:cubicBezTo>
                  <a:lnTo>
                    <a:pt x="120588" y="241175"/>
                  </a:lnTo>
                  <a:cubicBezTo>
                    <a:pt x="53989" y="241175"/>
                    <a:pt x="0" y="187186"/>
                    <a:pt x="0" y="120588"/>
                  </a:cubicBezTo>
                  <a:lnTo>
                    <a:pt x="0" y="120588"/>
                  </a:lnTo>
                  <a:cubicBezTo>
                    <a:pt x="0" y="53989"/>
                    <a:pt x="53989" y="0"/>
                    <a:pt x="120588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1476" cy="279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Ve</a:t>
              </a:r>
              <a:r>
                <a:rPr lang="en-US" b="true" sz="2499">
                  <a:solidFill>
                    <a:srgbClr val="000000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ntilation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60735" y="3711775"/>
            <a:ext cx="2610309" cy="719285"/>
            <a:chOff x="0" y="0"/>
            <a:chExt cx="875233" cy="2411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5233" cy="241175"/>
            </a:xfrm>
            <a:custGeom>
              <a:avLst/>
              <a:gdLst/>
              <a:ahLst/>
              <a:cxnLst/>
              <a:rect r="r" b="b" t="t" l="l"/>
              <a:pathLst>
                <a:path h="241175" w="875233">
                  <a:moveTo>
                    <a:pt x="120588" y="0"/>
                  </a:moveTo>
                  <a:lnTo>
                    <a:pt x="754646" y="0"/>
                  </a:lnTo>
                  <a:cubicBezTo>
                    <a:pt x="821245" y="0"/>
                    <a:pt x="875233" y="53989"/>
                    <a:pt x="875233" y="120588"/>
                  </a:cubicBezTo>
                  <a:lnTo>
                    <a:pt x="875233" y="120588"/>
                  </a:lnTo>
                  <a:cubicBezTo>
                    <a:pt x="875233" y="187186"/>
                    <a:pt x="821245" y="241175"/>
                    <a:pt x="754646" y="241175"/>
                  </a:cubicBezTo>
                  <a:lnTo>
                    <a:pt x="120588" y="241175"/>
                  </a:lnTo>
                  <a:cubicBezTo>
                    <a:pt x="53989" y="241175"/>
                    <a:pt x="0" y="187186"/>
                    <a:pt x="0" y="120588"/>
                  </a:cubicBezTo>
                  <a:lnTo>
                    <a:pt x="0" y="120588"/>
                  </a:lnTo>
                  <a:cubicBezTo>
                    <a:pt x="0" y="53989"/>
                    <a:pt x="53989" y="0"/>
                    <a:pt x="120588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75233" cy="279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Ch</a:t>
              </a:r>
              <a:r>
                <a:rPr lang="en-US" b="true" sz="2499">
                  <a:solidFill>
                    <a:srgbClr val="000000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emical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790827" y="4602535"/>
          <a:ext cx="14706346" cy="4655765"/>
        </p:xfrm>
        <a:graphic>
          <a:graphicData uri="http://schemas.openxmlformats.org/drawingml/2006/table">
            <a:tbl>
              <a:tblPr/>
              <a:tblGrid>
                <a:gridCol w="2124147"/>
                <a:gridCol w="2785602"/>
                <a:gridCol w="2783686"/>
                <a:gridCol w="2783686"/>
                <a:gridCol w="4229225"/>
              </a:tblGrid>
              <a:tr h="11325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25"/>
                        </a:lnSpc>
                        <a:defRPr/>
                      </a:pPr>
                      <a:r>
                        <a:rPr lang="en-US" sz="2161" b="true">
                          <a:solidFill>
                            <a:srgbClr val="000000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Led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7ED957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Green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FFBD59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Yellow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819"/>
                        </a:lnSpc>
                        <a:defRPr/>
                      </a:pPr>
                      <a:r>
                        <a:rPr lang="en-US" sz="2728" b="true">
                          <a:solidFill>
                            <a:srgbClr val="FF3131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Red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>
                          <a:solidFill>
                            <a:srgbClr val="FF3131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Red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64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25"/>
                        </a:lnSpc>
                        <a:defRPr/>
                      </a:pPr>
                      <a:r>
                        <a:rPr lang="en-US" sz="2161" b="true">
                          <a:solidFill>
                            <a:srgbClr val="000000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Fan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13101D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OFF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13101D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ON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13101D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OFF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13101D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ON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3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25"/>
                        </a:lnSpc>
                        <a:defRPr/>
                      </a:pPr>
                      <a:r>
                        <a:rPr lang="en-US" sz="2161" b="true">
                          <a:solidFill>
                            <a:srgbClr val="000000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Alarm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13101D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OFF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13101D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OFF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13101D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ON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13101D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ON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5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25"/>
                        </a:lnSpc>
                        <a:defRPr/>
                      </a:pPr>
                      <a:r>
                        <a:rPr lang="en-US" sz="2161" b="true">
                          <a:solidFill>
                            <a:srgbClr val="000000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Window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13101D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OFF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13101D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ON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13101D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OFF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8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728" strike="noStrike" u="none">
                          <a:solidFill>
                            <a:srgbClr val="13101D"/>
                          </a:solidFill>
                          <a:latin typeface="Atkinson Hyperlegible Bold"/>
                          <a:ea typeface="Atkinson Hyperlegible Bold"/>
                          <a:cs typeface="Atkinson Hyperlegible Bold"/>
                          <a:sym typeface="Atkinson Hyperlegible Bold"/>
                        </a:rPr>
                        <a:t>ON</a:t>
                      </a:r>
                      <a:endParaRPr lang="en-US" sz="1100"/>
                    </a:p>
                  </a:txBody>
                  <a:tcPr marL="149636" marR="149636" marT="149636" marB="149636" anchor="ctr">
                    <a:lnL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27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12" id="12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2695573"/>
            <a:ext cx="15243175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The Response Matrix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271875" y="1200150"/>
            <a:ext cx="98742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09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425446" y="3720060"/>
            <a:ext cx="4071727" cy="719285"/>
            <a:chOff x="0" y="0"/>
            <a:chExt cx="1365245" cy="2411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65245" cy="241175"/>
            </a:xfrm>
            <a:custGeom>
              <a:avLst/>
              <a:gdLst/>
              <a:ahLst/>
              <a:cxnLst/>
              <a:rect r="r" b="b" t="t" l="l"/>
              <a:pathLst>
                <a:path h="241175" w="1365245">
                  <a:moveTo>
                    <a:pt x="114083" y="0"/>
                  </a:moveTo>
                  <a:lnTo>
                    <a:pt x="1251162" y="0"/>
                  </a:lnTo>
                  <a:cubicBezTo>
                    <a:pt x="1314168" y="0"/>
                    <a:pt x="1365245" y="51077"/>
                    <a:pt x="1365245" y="114083"/>
                  </a:cubicBezTo>
                  <a:lnTo>
                    <a:pt x="1365245" y="127092"/>
                  </a:lnTo>
                  <a:cubicBezTo>
                    <a:pt x="1365245" y="157349"/>
                    <a:pt x="1353225" y="186366"/>
                    <a:pt x="1331831" y="207761"/>
                  </a:cubicBezTo>
                  <a:cubicBezTo>
                    <a:pt x="1310436" y="229156"/>
                    <a:pt x="1281418" y="241175"/>
                    <a:pt x="1251162" y="241175"/>
                  </a:cubicBezTo>
                  <a:lnTo>
                    <a:pt x="114083" y="241175"/>
                  </a:lnTo>
                  <a:cubicBezTo>
                    <a:pt x="51077" y="241175"/>
                    <a:pt x="0" y="190099"/>
                    <a:pt x="0" y="127092"/>
                  </a:cubicBezTo>
                  <a:lnTo>
                    <a:pt x="0" y="114083"/>
                  </a:lnTo>
                  <a:cubicBezTo>
                    <a:pt x="0" y="83826"/>
                    <a:pt x="12019" y="54809"/>
                    <a:pt x="33414" y="33414"/>
                  </a:cubicBezTo>
                  <a:cubicBezTo>
                    <a:pt x="54809" y="12019"/>
                    <a:pt x="83826" y="0"/>
                    <a:pt x="114083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65245" cy="279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Security Breach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307262" y="3414337"/>
            <a:ext cx="3458325" cy="345832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BC907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695573"/>
            <a:ext cx="15243175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Learn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71875" y="1200150"/>
            <a:ext cx="98742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60800" y="5001307"/>
            <a:ext cx="1074467" cy="24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  <a:spcBef>
                <a:spcPct val="0"/>
              </a:spcBef>
            </a:pPr>
            <a:r>
              <a:rPr lang="en-US" sz="1374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DQN</a:t>
            </a:r>
            <a:r>
              <a:rPr lang="en-US" sz="1374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 (RL)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91800" y="5001307"/>
            <a:ext cx="889250" cy="24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  <a:spcBef>
                <a:spcPct val="0"/>
              </a:spcBef>
            </a:pPr>
            <a:r>
              <a:rPr lang="en-US" sz="1374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Genetic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833359"/>
            <a:ext cx="8115300" cy="457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</a:t>
            </a:r>
            <a:r>
              <a:rPr lang="en-US" sz="20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ontinuously improving system performance through adaptive learning and optimization.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The </a:t>
            </a:r>
            <a:r>
              <a:rPr lang="en-US" b="true" sz="2000">
                <a:solidFill>
                  <a:srgbClr val="1D4896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DQN Reinforcement Learning</a:t>
            </a:r>
            <a:r>
              <a:rPr lang="en-US" sz="20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agent continuously refines actuator control policies, achieving a 98.4% success rate while minimizing unnecessary actuator switching (Actuator Chatter) and reducing energy consumption.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The </a:t>
            </a:r>
            <a:r>
              <a:rPr lang="en-US" b="true" sz="2000">
                <a:solidFill>
                  <a:srgbClr val="BC9072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Genetic Algorithm</a:t>
            </a:r>
            <a:r>
              <a:rPr lang="en-US" sz="20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optimizes decision thresholds based on environmental feedback, such as setting Gas Warning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Threshold = 44.52%, ensuring a balance between sensitivity and false alarms.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0368871" y="3414337"/>
            <a:ext cx="3458325" cy="345832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4A629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28963" y="8845550"/>
            <a:ext cx="1544264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ENABL</a:t>
            </a:r>
            <a:r>
              <a:rPr lang="en-US" sz="2499" spc="124">
                <a:solidFill>
                  <a:srgbClr val="13101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ES THE SYSTEM TO EVOLVE AND IMPROVE AFTER EACH OPERATIONAL CYCLE.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631499" y="3753252"/>
            <a:ext cx="7025003" cy="5505048"/>
          </a:xfrm>
          <a:custGeom>
            <a:avLst/>
            <a:gdLst/>
            <a:ahLst/>
            <a:cxnLst/>
            <a:rect r="r" b="b" t="t" l="l"/>
            <a:pathLst>
              <a:path h="5505048" w="7025003">
                <a:moveTo>
                  <a:pt x="0" y="0"/>
                </a:moveTo>
                <a:lnTo>
                  <a:pt x="7025002" y="0"/>
                </a:lnTo>
                <a:lnTo>
                  <a:pt x="7025002" y="5505048"/>
                </a:lnTo>
                <a:lnTo>
                  <a:pt x="0" y="55050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61327" y="6940591"/>
            <a:ext cx="464743" cy="730716"/>
          </a:xfrm>
          <a:custGeom>
            <a:avLst/>
            <a:gdLst/>
            <a:ahLst/>
            <a:cxnLst/>
            <a:rect r="r" b="b" t="t" l="l"/>
            <a:pathLst>
              <a:path h="730716" w="464743">
                <a:moveTo>
                  <a:pt x="0" y="0"/>
                </a:moveTo>
                <a:lnTo>
                  <a:pt x="464743" y="0"/>
                </a:lnTo>
                <a:lnTo>
                  <a:pt x="464743" y="730715"/>
                </a:lnTo>
                <a:lnTo>
                  <a:pt x="0" y="7307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27091" y="4387256"/>
            <a:ext cx="446393" cy="563110"/>
          </a:xfrm>
          <a:custGeom>
            <a:avLst/>
            <a:gdLst/>
            <a:ahLst/>
            <a:cxnLst/>
            <a:rect r="r" b="b" t="t" l="l"/>
            <a:pathLst>
              <a:path h="563110" w="446393">
                <a:moveTo>
                  <a:pt x="0" y="0"/>
                </a:moveTo>
                <a:lnTo>
                  <a:pt x="446393" y="0"/>
                </a:lnTo>
                <a:lnTo>
                  <a:pt x="446393" y="563110"/>
                </a:lnTo>
                <a:lnTo>
                  <a:pt x="0" y="563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73964" y="5643860"/>
            <a:ext cx="596298" cy="589793"/>
          </a:xfrm>
          <a:custGeom>
            <a:avLst/>
            <a:gdLst/>
            <a:ahLst/>
            <a:cxnLst/>
            <a:rect r="r" b="b" t="t" l="l"/>
            <a:pathLst>
              <a:path h="589793" w="596298">
                <a:moveTo>
                  <a:pt x="0" y="0"/>
                </a:moveTo>
                <a:lnTo>
                  <a:pt x="596298" y="0"/>
                </a:lnTo>
                <a:lnTo>
                  <a:pt x="596298" y="589793"/>
                </a:lnTo>
                <a:lnTo>
                  <a:pt x="0" y="5897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96907" y="8222425"/>
            <a:ext cx="750412" cy="709481"/>
          </a:xfrm>
          <a:custGeom>
            <a:avLst/>
            <a:gdLst/>
            <a:ahLst/>
            <a:cxnLst/>
            <a:rect r="r" b="b" t="t" l="l"/>
            <a:pathLst>
              <a:path h="709481" w="750412">
                <a:moveTo>
                  <a:pt x="0" y="0"/>
                </a:moveTo>
                <a:lnTo>
                  <a:pt x="750412" y="0"/>
                </a:lnTo>
                <a:lnTo>
                  <a:pt x="750412" y="709480"/>
                </a:lnTo>
                <a:lnTo>
                  <a:pt x="0" y="7094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695573"/>
            <a:ext cx="15243175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What We Learned Along the Way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71875" y="1200150"/>
            <a:ext cx="98742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11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25610" y="3996241"/>
            <a:ext cx="2640661" cy="122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00"/>
              </a:lnSpc>
              <a:spcBef>
                <a:spcPct val="0"/>
              </a:spcBef>
            </a:pPr>
            <a:r>
              <a:rPr lang="en-US" sz="142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</a:t>
            </a:r>
            <a:r>
              <a:rPr lang="en-US" sz="142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 ran the sensors live in the lab to capture real-world ranges, then generated a realistic synthetic dataset in Python to train all 7 models.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25610" y="6658475"/>
            <a:ext cx="2640661" cy="122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00"/>
              </a:lnSpc>
              <a:spcBef>
                <a:spcPct val="0"/>
              </a:spcBef>
            </a:pPr>
            <a:r>
              <a:rPr lang="en-US" sz="142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Running</a:t>
            </a:r>
            <a:r>
              <a:rPr lang="en-US" sz="142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PCA, GNN, SOM, RBF, and ART2 in sequence then Fuzzy Logic and RL had to happen in milliseconds, not seconds.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54968" y="3734202"/>
            <a:ext cx="2311303" cy="23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70"/>
              </a:lnSpc>
              <a:spcBef>
                <a:spcPct val="0"/>
              </a:spcBef>
            </a:pPr>
            <a:r>
              <a:rPr lang="en-US" b="true" sz="1407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Dataset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25610" y="6357241"/>
            <a:ext cx="2640661" cy="26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  <a:spcBef>
                <a:spcPct val="0"/>
              </a:spcBef>
            </a:pPr>
            <a:r>
              <a:rPr lang="en-US" b="true" sz="1607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Real-time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21729" y="5093633"/>
            <a:ext cx="2640661" cy="123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  <a:spcBef>
                <a:spcPct val="0"/>
              </a:spcBef>
            </a:pPr>
            <a:r>
              <a:rPr lang="en-US" sz="142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More mod</a:t>
            </a:r>
            <a:r>
              <a:rPr lang="en-US" sz="142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els = more intelligence, but also more latency. We had to optimize each model's complexity to keep the pipeline real-time.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21729" y="7730770"/>
            <a:ext cx="2640661" cy="9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sz="142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Tuning the </a:t>
            </a:r>
            <a:r>
              <a:rPr lang="en-US" sz="142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Fuzzy Logic rules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r>
              <a:rPr lang="en-US" sz="142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(27 of them) to minimize the 6.1% false alert rate took multiple training cycles.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21729" y="4801832"/>
            <a:ext cx="2640661" cy="26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b="true" sz="1607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Balancing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21729" y="7421048"/>
            <a:ext cx="2640661" cy="26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b="true" sz="1607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False alarms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11945" y="4090436"/>
            <a:ext cx="1484389" cy="961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8"/>
              </a:lnSpc>
            </a:pPr>
            <a:r>
              <a:rPr lang="en-US" b="true" sz="5627">
                <a:solidFill>
                  <a:srgbClr val="4C8DF6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91666" y="5409005"/>
            <a:ext cx="1484389" cy="961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8"/>
              </a:lnSpc>
            </a:pPr>
            <a:r>
              <a:rPr lang="en-US" b="true" sz="5627">
                <a:solidFill>
                  <a:srgbClr val="4A629C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11945" y="6727574"/>
            <a:ext cx="1484389" cy="961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8"/>
              </a:lnSpc>
            </a:pPr>
            <a:r>
              <a:rPr lang="en-US" b="true" sz="5627">
                <a:solidFill>
                  <a:srgbClr val="4E3E31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91666" y="8046142"/>
            <a:ext cx="1484389" cy="95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8"/>
              </a:lnSpc>
            </a:pPr>
            <a:r>
              <a:rPr lang="en-US" b="true" sz="5627">
                <a:solidFill>
                  <a:srgbClr val="000038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695573"/>
            <a:ext cx="15243175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Real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71875" y="1200150"/>
            <a:ext cx="98742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12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38124" y="3962841"/>
            <a:ext cx="4686911" cy="1171728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693099" y="3606018"/>
            <a:ext cx="2576962" cy="53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7"/>
              </a:lnSpc>
            </a:pPr>
            <a:r>
              <a:rPr lang="en-US" sz="17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DQN</a:t>
            </a:r>
            <a:r>
              <a:rPr lang="en-US" sz="17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</a:t>
            </a:r>
            <a:r>
              <a:rPr lang="en-US" sz="17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olicy success (98.4%)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072894" y="3992181"/>
            <a:ext cx="4510877" cy="1127719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0088245" y="3658284"/>
            <a:ext cx="2480174" cy="50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7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PCA</a:t>
            </a:r>
            <a:r>
              <a:rPr lang="en-US" sz="17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var</a:t>
            </a:r>
            <a:r>
              <a:rPr lang="en-US" sz="17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iance coverage</a:t>
            </a:r>
          </a:p>
          <a:p>
            <a:pPr algn="ctr">
              <a:lnSpc>
                <a:spcPts val="2057"/>
              </a:lnSpc>
            </a:pPr>
            <a:r>
              <a:rPr lang="en-US" sz="17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(97.3%)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847665" y="3962841"/>
            <a:ext cx="4686911" cy="1171728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5902640" y="3606018"/>
            <a:ext cx="2576962" cy="53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7"/>
              </a:lnSpc>
            </a:pPr>
            <a:r>
              <a:rPr lang="en-US" sz="17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Risk</a:t>
            </a:r>
            <a:r>
              <a:rPr lang="en-US" sz="17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classifier </a:t>
            </a:r>
            <a:r>
              <a:rPr lang="en-US" sz="17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accuracy</a:t>
            </a:r>
          </a:p>
          <a:p>
            <a:pPr algn="ctr">
              <a:lnSpc>
                <a:spcPts val="2137"/>
              </a:lnSpc>
            </a:pPr>
            <a:r>
              <a:rPr lang="en-US" sz="17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(86.2%)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124330" y="3959695"/>
            <a:ext cx="4510877" cy="1127719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4139681" y="3625798"/>
            <a:ext cx="2480174" cy="50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7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Warning</a:t>
            </a:r>
            <a:r>
              <a:rPr lang="en-US" sz="17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miss </a:t>
            </a:r>
            <a:r>
              <a:rPr lang="en-US" sz="17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rate</a:t>
            </a:r>
          </a:p>
          <a:p>
            <a:pPr algn="ctr">
              <a:lnSpc>
                <a:spcPts val="2057"/>
              </a:lnSpc>
            </a:pPr>
            <a:r>
              <a:rPr lang="en-US" sz="17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</a:t>
            </a:r>
            <a:r>
              <a:rPr lang="en-US" sz="171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0.15%)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6810" y="4630267"/>
            <a:ext cx="9942469" cy="5456572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532215" y="4356191"/>
            <a:ext cx="9447707" cy="56894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64084" y="8969392"/>
            <a:ext cx="14207570" cy="28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  <a:spcBef>
                <a:spcPct val="0"/>
              </a:spcBef>
            </a:pPr>
            <a:r>
              <a:rPr lang="en-US" sz="1750">
                <a:solidFill>
                  <a:srgbClr val="4A7FF7"/>
                </a:solidFill>
                <a:latin typeface="Michroma"/>
                <a:ea typeface="Michroma"/>
                <a:cs typeface="Michroma"/>
                <a:sym typeface="Michroma"/>
              </a:rPr>
              <a:t>Explore the full architecture, code and Live Demo on </a:t>
            </a:r>
            <a:r>
              <a:rPr lang="en-US" sz="1750" u="sng">
                <a:solidFill>
                  <a:srgbClr val="4A7FF7"/>
                </a:solidFill>
                <a:latin typeface="Michroma"/>
                <a:ea typeface="Michroma"/>
                <a:cs typeface="Michroma"/>
                <a:sym typeface="Michroma"/>
                <a:hlinkClick r:id="rId2" tooltip="https://github.com/adelbadran/Adaptive_Lab_Guardian.git"/>
              </a:rPr>
              <a:t>GitHub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64084" y="7620530"/>
            <a:ext cx="13959831" cy="117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  <a:spcBef>
                <a:spcPct val="0"/>
              </a:spcBef>
            </a:pPr>
            <a:r>
              <a:rPr lang="en-US" sz="2268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ALG combines Edge hardware, real-time AI, and modern web technology into one intelligent safety system — built to protect what matters when no one is watching.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7954" y="1214640"/>
            <a:ext cx="13712093" cy="6243964"/>
          </a:xfrm>
          <a:custGeom>
            <a:avLst/>
            <a:gdLst/>
            <a:ahLst/>
            <a:cxnLst/>
            <a:rect r="r" b="b" t="t" l="l"/>
            <a:pathLst>
              <a:path h="6243964" w="13712093">
                <a:moveTo>
                  <a:pt x="0" y="0"/>
                </a:moveTo>
                <a:lnTo>
                  <a:pt x="13712092" y="0"/>
                </a:lnTo>
                <a:lnTo>
                  <a:pt x="13712092" y="6243964"/>
                </a:lnTo>
                <a:lnTo>
                  <a:pt x="0" y="62439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271875" y="1200150"/>
            <a:ext cx="98742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5745" y="-3057126"/>
            <a:ext cx="7671941" cy="5593542"/>
          </a:xfrm>
          <a:custGeom>
            <a:avLst/>
            <a:gdLst/>
            <a:ahLst/>
            <a:cxnLst/>
            <a:rect r="r" b="b" t="t" l="l"/>
            <a:pathLst>
              <a:path h="5593542" w="7671941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3267" y="-3057126"/>
            <a:ext cx="7672066" cy="6235297"/>
          </a:xfrm>
          <a:custGeom>
            <a:avLst/>
            <a:gdLst/>
            <a:ahLst/>
            <a:cxnLst/>
            <a:rect r="r" b="b" t="t" l="l"/>
            <a:pathLst>
              <a:path h="6235297" w="7672066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22676" y="4668837"/>
            <a:ext cx="15243175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13101D"/>
                </a:solidFill>
                <a:latin typeface="Michroma"/>
                <a:ea typeface="Michroma"/>
                <a:cs typeface="Michroma"/>
                <a:sym typeface="Michroma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47607" y="5475288"/>
            <a:ext cx="419278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383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Th</a:t>
            </a:r>
            <a:r>
              <a:rPr lang="en-US" sz="2000">
                <a:solidFill>
                  <a:srgbClr val="5383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oughts ? Questions ? Let's connect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DAHMiw2f-eU</dc:identifier>
  <dcterms:modified xsi:type="dcterms:W3CDTF">2011-08-01T06:04:30Z</dcterms:modified>
  <cp:revision>1</cp:revision>
  <dc:title>White And Blue Modern Technology For Everyone Presentation</dc:title>
</cp:coreProperties>
</file>